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League Spartan" charset="1" panose="00000800000000000000"/>
      <p:regular r:id="rId25"/>
    </p:embeddedFont>
    <p:embeddedFont>
      <p:font typeface="Poppins Bold" charset="1" panose="00000800000000000000"/>
      <p:regular r:id="rId26"/>
    </p:embeddedFont>
    <p:embeddedFont>
      <p:font typeface="Inter 1 Bold" charset="1" panose="02000503000000020004"/>
      <p:regular r:id="rId27"/>
    </p:embeddedFont>
    <p:embeddedFont>
      <p:font typeface="Glacial Indifference Bold" charset="1" panose="00000800000000000000"/>
      <p:regular r:id="rId28"/>
    </p:embeddedFont>
    <p:embeddedFont>
      <p:font typeface="Montserrat Bold" charset="1" panose="00000800000000000000"/>
      <p:regular r:id="rId29"/>
    </p:embeddedFont>
    <p:embeddedFont>
      <p:font typeface="Inter 2 Bold" charset="1" panose="020B080203000000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jpeg" Type="http://schemas.openxmlformats.org/officeDocument/2006/relationships/image"/><Relationship Id="rId3" Target="../media/VAHNXgQXzxU.mp4" Type="http://schemas.openxmlformats.org/officeDocument/2006/relationships/video"/><Relationship Id="rId4" Target="../media/VAHNXgQXzxU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68.pn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82969" y="-3360930"/>
            <a:ext cx="14255544" cy="14255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1649" y="6379401"/>
            <a:ext cx="324649" cy="324649"/>
          </a:xfrm>
          <a:custGeom>
            <a:avLst/>
            <a:gdLst/>
            <a:ahLst/>
            <a:cxnLst/>
            <a:rect r="r" b="b" t="t" l="l"/>
            <a:pathLst>
              <a:path h="324649" w="324649">
                <a:moveTo>
                  <a:pt x="0" y="0"/>
                </a:moveTo>
                <a:lnTo>
                  <a:pt x="324649" y="0"/>
                </a:lnTo>
                <a:lnTo>
                  <a:pt x="324649" y="324649"/>
                </a:lnTo>
                <a:lnTo>
                  <a:pt x="0" y="324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3532">
            <a:off x="11625055" y="2954081"/>
            <a:ext cx="6323225" cy="7175291"/>
          </a:xfrm>
          <a:custGeom>
            <a:avLst/>
            <a:gdLst/>
            <a:ahLst/>
            <a:cxnLst/>
            <a:rect r="r" b="b" t="t" l="l"/>
            <a:pathLst>
              <a:path h="7175291" w="6323225">
                <a:moveTo>
                  <a:pt x="0" y="0"/>
                </a:moveTo>
                <a:lnTo>
                  <a:pt x="6323225" y="0"/>
                </a:lnTo>
                <a:lnTo>
                  <a:pt x="6323225" y="7175290"/>
                </a:lnTo>
                <a:lnTo>
                  <a:pt x="0" y="7175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4285" y="3127949"/>
            <a:ext cx="1937448" cy="2015551"/>
          </a:xfrm>
          <a:custGeom>
            <a:avLst/>
            <a:gdLst/>
            <a:ahLst/>
            <a:cxnLst/>
            <a:rect r="r" b="b" t="t" l="l"/>
            <a:pathLst>
              <a:path h="2015551" w="1937448">
                <a:moveTo>
                  <a:pt x="0" y="0"/>
                </a:moveTo>
                <a:lnTo>
                  <a:pt x="1937448" y="0"/>
                </a:lnTo>
                <a:lnTo>
                  <a:pt x="1937448" y="2015551"/>
                </a:lnTo>
                <a:lnTo>
                  <a:pt x="0" y="20155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04435" y="4690207"/>
            <a:ext cx="7467213" cy="3132789"/>
          </a:xfrm>
          <a:custGeom>
            <a:avLst/>
            <a:gdLst/>
            <a:ahLst/>
            <a:cxnLst/>
            <a:rect r="r" b="b" t="t" l="l"/>
            <a:pathLst>
              <a:path h="3132789" w="7467213">
                <a:moveTo>
                  <a:pt x="0" y="0"/>
                </a:moveTo>
                <a:lnTo>
                  <a:pt x="7467213" y="0"/>
                </a:lnTo>
                <a:lnTo>
                  <a:pt x="7467213" y="3132789"/>
                </a:lnTo>
                <a:lnTo>
                  <a:pt x="0" y="31327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3572" r="0" b="-6478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90323" y="307803"/>
            <a:ext cx="4739960" cy="1140003"/>
          </a:xfrm>
          <a:custGeom>
            <a:avLst/>
            <a:gdLst/>
            <a:ahLst/>
            <a:cxnLst/>
            <a:rect r="r" b="b" t="t" l="l"/>
            <a:pathLst>
              <a:path h="1140003" w="4739960">
                <a:moveTo>
                  <a:pt x="0" y="0"/>
                </a:moveTo>
                <a:lnTo>
                  <a:pt x="4739960" y="0"/>
                </a:lnTo>
                <a:lnTo>
                  <a:pt x="4739960" y="1140003"/>
                </a:lnTo>
                <a:lnTo>
                  <a:pt x="0" y="11400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4550" r="0" b="-15123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7675" y="1276356"/>
            <a:ext cx="13290130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TALLER DE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335905" y="-1754572"/>
            <a:ext cx="5566544" cy="5566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1071847" y="2611541"/>
            <a:ext cx="1532130" cy="153213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-392633" y="8556327"/>
            <a:ext cx="2637688" cy="26376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9110" y="554805"/>
            <a:ext cx="4095750" cy="3605629"/>
            <a:chOff x="0" y="0"/>
            <a:chExt cx="629713" cy="55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9713" cy="554358"/>
            </a:xfrm>
            <a:custGeom>
              <a:avLst/>
              <a:gdLst/>
              <a:ahLst/>
              <a:cxnLst/>
              <a:rect r="r" b="b" t="t" l="l"/>
              <a:pathLst>
                <a:path h="554358" w="629713">
                  <a:moveTo>
                    <a:pt x="166340" y="0"/>
                  </a:moveTo>
                  <a:lnTo>
                    <a:pt x="463373" y="0"/>
                  </a:lnTo>
                  <a:cubicBezTo>
                    <a:pt x="555240" y="0"/>
                    <a:pt x="629713" y="74473"/>
                    <a:pt x="629713" y="166340"/>
                  </a:cubicBezTo>
                  <a:lnTo>
                    <a:pt x="629713" y="388018"/>
                  </a:lnTo>
                  <a:cubicBezTo>
                    <a:pt x="629713" y="479885"/>
                    <a:pt x="555240" y="554358"/>
                    <a:pt x="463373" y="554358"/>
                  </a:cubicBezTo>
                  <a:lnTo>
                    <a:pt x="166340" y="554358"/>
                  </a:lnTo>
                  <a:cubicBezTo>
                    <a:pt x="74473" y="554358"/>
                    <a:pt x="0" y="479885"/>
                    <a:pt x="0" y="388018"/>
                  </a:cubicBezTo>
                  <a:lnTo>
                    <a:pt x="0" y="166340"/>
                  </a:lnTo>
                  <a:cubicBezTo>
                    <a:pt x="0" y="74473"/>
                    <a:pt x="74473" y="0"/>
                    <a:pt x="16634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9138" r="0" b="-59138"/>
              </a:stretch>
            </a:blipFill>
            <a:ln w="19050" cap="rnd">
              <a:gradFill>
                <a:gsLst>
                  <a:gs pos="0">
                    <a:srgbClr val="555555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481743" y="617660"/>
            <a:ext cx="4078450" cy="3590399"/>
            <a:chOff x="0" y="0"/>
            <a:chExt cx="629713" cy="55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9713" cy="554358"/>
            </a:xfrm>
            <a:custGeom>
              <a:avLst/>
              <a:gdLst/>
              <a:ahLst/>
              <a:cxnLst/>
              <a:rect r="r" b="b" t="t" l="l"/>
              <a:pathLst>
                <a:path h="554358" w="629713">
                  <a:moveTo>
                    <a:pt x="167046" y="0"/>
                  </a:moveTo>
                  <a:lnTo>
                    <a:pt x="462667" y="0"/>
                  </a:lnTo>
                  <a:cubicBezTo>
                    <a:pt x="554924" y="0"/>
                    <a:pt x="629713" y="74789"/>
                    <a:pt x="629713" y="167046"/>
                  </a:cubicBezTo>
                  <a:lnTo>
                    <a:pt x="629713" y="387312"/>
                  </a:lnTo>
                  <a:cubicBezTo>
                    <a:pt x="629713" y="479569"/>
                    <a:pt x="554924" y="554358"/>
                    <a:pt x="462667" y="554358"/>
                  </a:cubicBezTo>
                  <a:lnTo>
                    <a:pt x="167046" y="554358"/>
                  </a:lnTo>
                  <a:cubicBezTo>
                    <a:pt x="74789" y="554358"/>
                    <a:pt x="0" y="479569"/>
                    <a:pt x="0" y="387312"/>
                  </a:cubicBezTo>
                  <a:lnTo>
                    <a:pt x="0" y="167046"/>
                  </a:lnTo>
                  <a:cubicBezTo>
                    <a:pt x="0" y="74789"/>
                    <a:pt x="74789" y="0"/>
                    <a:pt x="16704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7599" r="0" b="-27599"/>
              </a:stretch>
            </a:blipFill>
            <a:ln w="19050" cap="rnd">
              <a:gradFill>
                <a:gsLst>
                  <a:gs pos="0">
                    <a:srgbClr val="555555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046745" y="5204831"/>
            <a:ext cx="4065964" cy="3579408"/>
            <a:chOff x="0" y="0"/>
            <a:chExt cx="629713" cy="5543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9713" cy="554358"/>
            </a:xfrm>
            <a:custGeom>
              <a:avLst/>
              <a:gdLst/>
              <a:ahLst/>
              <a:cxnLst/>
              <a:rect r="r" b="b" t="t" l="l"/>
              <a:pathLst>
                <a:path h="554358" w="629713">
                  <a:moveTo>
                    <a:pt x="167559" y="0"/>
                  </a:moveTo>
                  <a:lnTo>
                    <a:pt x="462154" y="0"/>
                  </a:lnTo>
                  <a:cubicBezTo>
                    <a:pt x="554695" y="0"/>
                    <a:pt x="629713" y="75019"/>
                    <a:pt x="629713" y="167559"/>
                  </a:cubicBezTo>
                  <a:lnTo>
                    <a:pt x="629713" y="386799"/>
                  </a:lnTo>
                  <a:cubicBezTo>
                    <a:pt x="629713" y="479340"/>
                    <a:pt x="554695" y="554358"/>
                    <a:pt x="462154" y="554358"/>
                  </a:cubicBezTo>
                  <a:lnTo>
                    <a:pt x="167559" y="554358"/>
                  </a:lnTo>
                  <a:cubicBezTo>
                    <a:pt x="75019" y="554358"/>
                    <a:pt x="0" y="479340"/>
                    <a:pt x="0" y="386799"/>
                  </a:cubicBezTo>
                  <a:lnTo>
                    <a:pt x="0" y="167559"/>
                  </a:lnTo>
                  <a:cubicBezTo>
                    <a:pt x="0" y="75019"/>
                    <a:pt x="75019" y="0"/>
                    <a:pt x="16755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796" r="0" b="-6796"/>
              </a:stretch>
            </a:blipFill>
            <a:ln w="19050" cap="rnd">
              <a:gradFill>
                <a:gsLst>
                  <a:gs pos="0">
                    <a:srgbClr val="555555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31129" y="4208059"/>
            <a:ext cx="3311711" cy="751580"/>
            <a:chOff x="0" y="0"/>
            <a:chExt cx="937761" cy="2128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7761" cy="212821"/>
            </a:xfrm>
            <a:custGeom>
              <a:avLst/>
              <a:gdLst/>
              <a:ahLst/>
              <a:cxnLst/>
              <a:rect r="r" b="b" t="t" l="l"/>
              <a:pathLst>
                <a:path h="212821" w="937761">
                  <a:moveTo>
                    <a:pt x="106411" y="0"/>
                  </a:moveTo>
                  <a:lnTo>
                    <a:pt x="831350" y="0"/>
                  </a:lnTo>
                  <a:cubicBezTo>
                    <a:pt x="890119" y="0"/>
                    <a:pt x="937761" y="47642"/>
                    <a:pt x="937761" y="106411"/>
                  </a:cubicBezTo>
                  <a:lnTo>
                    <a:pt x="937761" y="106411"/>
                  </a:lnTo>
                  <a:cubicBezTo>
                    <a:pt x="937761" y="165180"/>
                    <a:pt x="890119" y="212821"/>
                    <a:pt x="831350" y="212821"/>
                  </a:cubicBezTo>
                  <a:lnTo>
                    <a:pt x="106411" y="212821"/>
                  </a:lnTo>
                  <a:cubicBezTo>
                    <a:pt x="47642" y="212821"/>
                    <a:pt x="0" y="165180"/>
                    <a:pt x="0" y="106411"/>
                  </a:cubicBezTo>
                  <a:lnTo>
                    <a:pt x="0" y="106411"/>
                  </a:lnTo>
                  <a:cubicBezTo>
                    <a:pt x="0" y="47642"/>
                    <a:pt x="47642" y="0"/>
                    <a:pt x="106411" y="0"/>
                  </a:cubicBezTo>
                  <a:close/>
                </a:path>
              </a:pathLst>
            </a:custGeom>
            <a:solidFill>
              <a:srgbClr val="F5F1E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37761" cy="250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02647" y="4289155"/>
            <a:ext cx="3311711" cy="751580"/>
            <a:chOff x="0" y="0"/>
            <a:chExt cx="937761" cy="2128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7761" cy="212821"/>
            </a:xfrm>
            <a:custGeom>
              <a:avLst/>
              <a:gdLst/>
              <a:ahLst/>
              <a:cxnLst/>
              <a:rect r="r" b="b" t="t" l="l"/>
              <a:pathLst>
                <a:path h="212821" w="937761">
                  <a:moveTo>
                    <a:pt x="106411" y="0"/>
                  </a:moveTo>
                  <a:lnTo>
                    <a:pt x="831350" y="0"/>
                  </a:lnTo>
                  <a:cubicBezTo>
                    <a:pt x="890119" y="0"/>
                    <a:pt x="937761" y="47642"/>
                    <a:pt x="937761" y="106411"/>
                  </a:cubicBezTo>
                  <a:lnTo>
                    <a:pt x="937761" y="106411"/>
                  </a:lnTo>
                  <a:cubicBezTo>
                    <a:pt x="937761" y="165180"/>
                    <a:pt x="890119" y="212821"/>
                    <a:pt x="831350" y="212821"/>
                  </a:cubicBezTo>
                  <a:lnTo>
                    <a:pt x="106411" y="212821"/>
                  </a:lnTo>
                  <a:cubicBezTo>
                    <a:pt x="47642" y="212821"/>
                    <a:pt x="0" y="165180"/>
                    <a:pt x="0" y="106411"/>
                  </a:cubicBezTo>
                  <a:lnTo>
                    <a:pt x="0" y="106411"/>
                  </a:lnTo>
                  <a:cubicBezTo>
                    <a:pt x="0" y="47642"/>
                    <a:pt x="47642" y="0"/>
                    <a:pt x="106411" y="0"/>
                  </a:cubicBezTo>
                  <a:close/>
                </a:path>
              </a:pathLst>
            </a:custGeom>
            <a:solidFill>
              <a:srgbClr val="F5F1E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37761" cy="250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416184" y="8831864"/>
            <a:ext cx="3311711" cy="751580"/>
            <a:chOff x="0" y="0"/>
            <a:chExt cx="937761" cy="2128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7761" cy="212821"/>
            </a:xfrm>
            <a:custGeom>
              <a:avLst/>
              <a:gdLst/>
              <a:ahLst/>
              <a:cxnLst/>
              <a:rect r="r" b="b" t="t" l="l"/>
              <a:pathLst>
                <a:path h="212821" w="937761">
                  <a:moveTo>
                    <a:pt x="106411" y="0"/>
                  </a:moveTo>
                  <a:lnTo>
                    <a:pt x="831350" y="0"/>
                  </a:lnTo>
                  <a:cubicBezTo>
                    <a:pt x="890119" y="0"/>
                    <a:pt x="937761" y="47642"/>
                    <a:pt x="937761" y="106411"/>
                  </a:cubicBezTo>
                  <a:lnTo>
                    <a:pt x="937761" y="106411"/>
                  </a:lnTo>
                  <a:cubicBezTo>
                    <a:pt x="937761" y="165180"/>
                    <a:pt x="890119" y="212821"/>
                    <a:pt x="831350" y="212821"/>
                  </a:cubicBezTo>
                  <a:lnTo>
                    <a:pt x="106411" y="212821"/>
                  </a:lnTo>
                  <a:cubicBezTo>
                    <a:pt x="47642" y="212821"/>
                    <a:pt x="0" y="165180"/>
                    <a:pt x="0" y="106411"/>
                  </a:cubicBezTo>
                  <a:lnTo>
                    <a:pt x="0" y="106411"/>
                  </a:lnTo>
                  <a:cubicBezTo>
                    <a:pt x="0" y="47642"/>
                    <a:pt x="47642" y="0"/>
                    <a:pt x="106411" y="0"/>
                  </a:cubicBezTo>
                  <a:close/>
                </a:path>
              </a:pathLst>
            </a:custGeom>
            <a:solidFill>
              <a:srgbClr val="F5F1E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37761" cy="250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791719" y="1639877"/>
            <a:ext cx="3411823" cy="4541529"/>
          </a:xfrm>
          <a:custGeom>
            <a:avLst/>
            <a:gdLst/>
            <a:ahLst/>
            <a:cxnLst/>
            <a:rect r="r" b="b" t="t" l="l"/>
            <a:pathLst>
              <a:path h="4541529" w="3411823">
                <a:moveTo>
                  <a:pt x="0" y="0"/>
                </a:moveTo>
                <a:lnTo>
                  <a:pt x="3411824" y="0"/>
                </a:lnTo>
                <a:lnTo>
                  <a:pt x="3411824" y="4541529"/>
                </a:lnTo>
                <a:lnTo>
                  <a:pt x="0" y="4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839984" y="4560170"/>
            <a:ext cx="6279192" cy="201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5817" spc="13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INTEGRANTES DEL PROYECTO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3777" y="4350717"/>
            <a:ext cx="3146416" cy="40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b="true" sz="2335" spc="-121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Andrés Figueroa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85295" y="4431813"/>
            <a:ext cx="3146416" cy="40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b="true" sz="2335" spc="-121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Andrés Moreno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81479" y="8974522"/>
            <a:ext cx="3146416" cy="40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b="true" sz="2335" spc="-121">
                <a:gradFill>
                  <a:gsLst>
                    <a:gs pos="0">
                      <a:srgbClr val="55555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Nicolás Moraga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7518" y="5989375"/>
            <a:ext cx="3219891" cy="3268925"/>
          </a:xfrm>
          <a:custGeom>
            <a:avLst/>
            <a:gdLst/>
            <a:ahLst/>
            <a:cxnLst/>
            <a:rect r="r" b="b" t="t" l="l"/>
            <a:pathLst>
              <a:path h="3268925" w="3219891">
                <a:moveTo>
                  <a:pt x="0" y="0"/>
                </a:moveTo>
                <a:lnTo>
                  <a:pt x="3219892" y="0"/>
                </a:lnTo>
                <a:lnTo>
                  <a:pt x="3219892" y="3268925"/>
                </a:lnTo>
                <a:lnTo>
                  <a:pt x="0" y="3268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39080" y="5325224"/>
            <a:ext cx="3500438" cy="3933076"/>
          </a:xfrm>
          <a:custGeom>
            <a:avLst/>
            <a:gdLst/>
            <a:ahLst/>
            <a:cxnLst/>
            <a:rect r="r" b="b" t="t" l="l"/>
            <a:pathLst>
              <a:path h="3933076" w="3500438">
                <a:moveTo>
                  <a:pt x="0" y="0"/>
                </a:moveTo>
                <a:lnTo>
                  <a:pt x="3500438" y="0"/>
                </a:lnTo>
                <a:lnTo>
                  <a:pt x="3500438" y="3933076"/>
                </a:lnTo>
                <a:lnTo>
                  <a:pt x="0" y="3933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65625" y="470373"/>
            <a:ext cx="9556750" cy="204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5"/>
              </a:lnSpc>
            </a:pPr>
            <a:r>
              <a:rPr lang="en-US" sz="5875" spc="17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DESCRIPCIÓN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528" y="3562350"/>
            <a:ext cx="657219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Quiebre de stock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Consecuencias económicas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Carga mental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03203" y="3562350"/>
            <a:ext cx="657219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Tranquilidad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Cercanía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Cumplimiento del tratamiento</a:t>
            </a:r>
          </a:p>
        </p:txBody>
      </p:sp>
      <p:grpSp>
        <p:nvGrpSpPr>
          <p:cNvPr name="Group 7" id="7"/>
          <p:cNvGrpSpPr/>
          <p:nvPr/>
        </p:nvGrpSpPr>
        <p:grpSpPr>
          <a:xfrm rot="5400000">
            <a:off x="-2006378" y="-1947044"/>
            <a:ext cx="5566544" cy="55665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560318">
            <a:off x="-2128630" y="7191165"/>
            <a:ext cx="6851480" cy="685148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820287" y="7071228"/>
            <a:ext cx="2839895" cy="2786647"/>
          </a:xfrm>
          <a:custGeom>
            <a:avLst/>
            <a:gdLst/>
            <a:ahLst/>
            <a:cxnLst/>
            <a:rect r="r" b="b" t="t" l="l"/>
            <a:pathLst>
              <a:path h="2786647" w="2839895">
                <a:moveTo>
                  <a:pt x="0" y="0"/>
                </a:moveTo>
                <a:lnTo>
                  <a:pt x="2839895" y="0"/>
                </a:lnTo>
                <a:lnTo>
                  <a:pt x="2839895" y="2786646"/>
                </a:lnTo>
                <a:lnTo>
                  <a:pt x="0" y="2786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83558" y="7266112"/>
            <a:ext cx="2369910" cy="2507841"/>
          </a:xfrm>
          <a:custGeom>
            <a:avLst/>
            <a:gdLst/>
            <a:ahLst/>
            <a:cxnLst/>
            <a:rect r="r" b="b" t="t" l="l"/>
            <a:pathLst>
              <a:path h="2507841" w="2369910">
                <a:moveTo>
                  <a:pt x="0" y="0"/>
                </a:moveTo>
                <a:lnTo>
                  <a:pt x="2369910" y="0"/>
                </a:lnTo>
                <a:lnTo>
                  <a:pt x="2369910" y="2507841"/>
                </a:lnTo>
                <a:lnTo>
                  <a:pt x="0" y="2507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20631">
            <a:off x="2135204" y="6848776"/>
            <a:ext cx="2386709" cy="3361562"/>
          </a:xfrm>
          <a:custGeom>
            <a:avLst/>
            <a:gdLst/>
            <a:ahLst/>
            <a:cxnLst/>
            <a:rect r="r" b="b" t="t" l="l"/>
            <a:pathLst>
              <a:path h="3361562" w="2386709">
                <a:moveTo>
                  <a:pt x="0" y="0"/>
                </a:moveTo>
                <a:lnTo>
                  <a:pt x="2386709" y="0"/>
                </a:lnTo>
                <a:lnTo>
                  <a:pt x="2386709" y="3361562"/>
                </a:lnTo>
                <a:lnTo>
                  <a:pt x="0" y="3361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48338"/>
            <a:ext cx="691272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 GENERAL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9885" y="2318887"/>
            <a:ext cx="7510349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spc="10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Automatizar de forma integral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spc="10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Calculo y proyección de consumo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spc="10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Generación de alertas preventivas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60182" y="948338"/>
            <a:ext cx="766625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 ESPECIFICO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3047" y="2290312"/>
            <a:ext cx="784948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spc="10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Vinculación segura mediante QR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spc="10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Confirmación remota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spc="10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Comparador de ofertas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spc="10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Asistente farmacológico (IA)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7445446" y="8951825"/>
            <a:ext cx="1350304" cy="135030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6F4">
                <a:alpha val="8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56843" y="16171"/>
            <a:ext cx="999506" cy="9995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CE2A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5005664"/>
            <a:ext cx="6180361" cy="6429505"/>
          </a:xfrm>
          <a:custGeom>
            <a:avLst/>
            <a:gdLst/>
            <a:ahLst/>
            <a:cxnLst/>
            <a:rect r="r" b="b" t="t" l="l"/>
            <a:pathLst>
              <a:path h="6429505" w="6180361">
                <a:moveTo>
                  <a:pt x="0" y="0"/>
                </a:moveTo>
                <a:lnTo>
                  <a:pt x="6180361" y="0"/>
                </a:lnTo>
                <a:lnTo>
                  <a:pt x="6180361" y="6429504"/>
                </a:lnTo>
                <a:lnTo>
                  <a:pt x="0" y="6429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2140505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5" y="0"/>
                </a:lnTo>
                <a:lnTo>
                  <a:pt x="1910105" y="1910106"/>
                </a:lnTo>
                <a:lnTo>
                  <a:pt x="0" y="1910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88643" y="4050611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5" y="0"/>
                </a:lnTo>
                <a:lnTo>
                  <a:pt x="1910105" y="1910105"/>
                </a:lnTo>
                <a:lnTo>
                  <a:pt x="0" y="191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32083" y="6796791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5" y="0"/>
                </a:lnTo>
                <a:lnTo>
                  <a:pt x="1910105" y="1910105"/>
                </a:lnTo>
                <a:lnTo>
                  <a:pt x="0" y="191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01678" y="4507049"/>
            <a:ext cx="995791" cy="998287"/>
          </a:xfrm>
          <a:custGeom>
            <a:avLst/>
            <a:gdLst/>
            <a:ahLst/>
            <a:cxnLst/>
            <a:rect r="r" b="b" t="t" l="l"/>
            <a:pathLst>
              <a:path h="998287" w="995791">
                <a:moveTo>
                  <a:pt x="0" y="0"/>
                </a:moveTo>
                <a:lnTo>
                  <a:pt x="995791" y="0"/>
                </a:lnTo>
                <a:lnTo>
                  <a:pt x="995791" y="998287"/>
                </a:lnTo>
                <a:lnTo>
                  <a:pt x="0" y="998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25" t="0" r="-12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00819" y="2585754"/>
            <a:ext cx="927767" cy="1035165"/>
          </a:xfrm>
          <a:custGeom>
            <a:avLst/>
            <a:gdLst/>
            <a:ahLst/>
            <a:cxnLst/>
            <a:rect r="r" b="b" t="t" l="l"/>
            <a:pathLst>
              <a:path h="1035165" w="927767">
                <a:moveTo>
                  <a:pt x="0" y="0"/>
                </a:moveTo>
                <a:lnTo>
                  <a:pt x="927767" y="0"/>
                </a:lnTo>
                <a:lnTo>
                  <a:pt x="927767" y="1035165"/>
                </a:lnTo>
                <a:lnTo>
                  <a:pt x="0" y="10351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04209" y="7324486"/>
            <a:ext cx="1003954" cy="1003954"/>
          </a:xfrm>
          <a:custGeom>
            <a:avLst/>
            <a:gdLst/>
            <a:ahLst/>
            <a:cxnLst/>
            <a:rect r="r" b="b" t="t" l="l"/>
            <a:pathLst>
              <a:path h="1003954" w="1003954">
                <a:moveTo>
                  <a:pt x="0" y="0"/>
                </a:moveTo>
                <a:lnTo>
                  <a:pt x="1003954" y="0"/>
                </a:lnTo>
                <a:lnTo>
                  <a:pt x="1003954" y="1003955"/>
                </a:lnTo>
                <a:lnTo>
                  <a:pt x="0" y="10039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27160" y="868258"/>
            <a:ext cx="4833680" cy="93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4"/>
              </a:lnSpc>
            </a:pPr>
            <a:r>
              <a:rPr lang="en-US" b="true" sz="816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ALCANCE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67215" y="2717733"/>
            <a:ext cx="123257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11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Predicción automática de agotamiento de stock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2825" y="4628367"/>
            <a:ext cx="953280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11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Despliegue del asistente de compras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87604" y="7180343"/>
            <a:ext cx="6523532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119" b="true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Notificaciones push y sistema de emergencia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14969" y="5918431"/>
            <a:ext cx="3072762" cy="2957534"/>
          </a:xfrm>
          <a:custGeom>
            <a:avLst/>
            <a:gdLst/>
            <a:ahLst/>
            <a:cxnLst/>
            <a:rect r="r" b="b" t="t" l="l"/>
            <a:pathLst>
              <a:path h="2957534" w="3072762">
                <a:moveTo>
                  <a:pt x="0" y="0"/>
                </a:moveTo>
                <a:lnTo>
                  <a:pt x="3072762" y="0"/>
                </a:lnTo>
                <a:lnTo>
                  <a:pt x="3072762" y="2957533"/>
                </a:lnTo>
                <a:lnTo>
                  <a:pt x="0" y="295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4503" y="5918431"/>
            <a:ext cx="3188709" cy="2857881"/>
          </a:xfrm>
          <a:custGeom>
            <a:avLst/>
            <a:gdLst/>
            <a:ahLst/>
            <a:cxnLst/>
            <a:rect r="r" b="b" t="t" l="l"/>
            <a:pathLst>
              <a:path h="2857881" w="3188709">
                <a:moveTo>
                  <a:pt x="0" y="0"/>
                </a:moveTo>
                <a:lnTo>
                  <a:pt x="3188709" y="0"/>
                </a:lnTo>
                <a:lnTo>
                  <a:pt x="3188709" y="2857880"/>
                </a:lnTo>
                <a:lnTo>
                  <a:pt x="0" y="2857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10713" y="5970244"/>
            <a:ext cx="3757778" cy="3288056"/>
          </a:xfrm>
          <a:custGeom>
            <a:avLst/>
            <a:gdLst/>
            <a:ahLst/>
            <a:cxnLst/>
            <a:rect r="r" b="b" t="t" l="l"/>
            <a:pathLst>
              <a:path h="3288056" w="3757778">
                <a:moveTo>
                  <a:pt x="0" y="0"/>
                </a:moveTo>
                <a:lnTo>
                  <a:pt x="3757778" y="0"/>
                </a:lnTo>
                <a:lnTo>
                  <a:pt x="3757778" y="3288056"/>
                </a:lnTo>
                <a:lnTo>
                  <a:pt x="0" y="3288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49619" y="943620"/>
            <a:ext cx="7188762" cy="93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4"/>
              </a:lnSpc>
            </a:pPr>
            <a:r>
              <a:rPr lang="en-US" sz="816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LIMITACIONES</a:t>
            </a:r>
          </a:p>
        </p:txBody>
      </p:sp>
      <p:grpSp>
        <p:nvGrpSpPr>
          <p:cNvPr name="Group 6" id="6"/>
          <p:cNvGrpSpPr/>
          <p:nvPr/>
        </p:nvGrpSpPr>
        <p:grpSpPr>
          <a:xfrm rot="5400000">
            <a:off x="-1629565" y="-585719"/>
            <a:ext cx="5566544" cy="5566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57973" y="2825262"/>
            <a:ext cx="392177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11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No realiza transacciones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98894" y="2629782"/>
            <a:ext cx="6381417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11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No detecta insumos mediante hardware físico (sensores)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78180" y="2629782"/>
            <a:ext cx="5746340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119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La información de la IA no reemplaza las indicaciones del médico</a:t>
            </a: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16186782" y="8439431"/>
            <a:ext cx="1637738" cy="163773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629565" y="-1718492"/>
            <a:ext cx="5566544" cy="5566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5074" y="3388528"/>
            <a:ext cx="8115300" cy="3922413"/>
            <a:chOff x="0" y="0"/>
            <a:chExt cx="1522896" cy="736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96" cy="736070"/>
            </a:xfrm>
            <a:custGeom>
              <a:avLst/>
              <a:gdLst/>
              <a:ahLst/>
              <a:cxnLst/>
              <a:rect r="r" b="b" t="t" l="l"/>
              <a:pathLst>
                <a:path h="736070" w="1522896">
                  <a:moveTo>
                    <a:pt x="48654" y="0"/>
                  </a:moveTo>
                  <a:lnTo>
                    <a:pt x="1474242" y="0"/>
                  </a:lnTo>
                  <a:cubicBezTo>
                    <a:pt x="1501113" y="0"/>
                    <a:pt x="1522896" y="21783"/>
                    <a:pt x="1522896" y="48654"/>
                  </a:cubicBezTo>
                  <a:lnTo>
                    <a:pt x="1522896" y="687416"/>
                  </a:lnTo>
                  <a:cubicBezTo>
                    <a:pt x="1522896" y="714287"/>
                    <a:pt x="1501113" y="736070"/>
                    <a:pt x="1474242" y="736070"/>
                  </a:cubicBezTo>
                  <a:lnTo>
                    <a:pt x="48654" y="736070"/>
                  </a:lnTo>
                  <a:cubicBezTo>
                    <a:pt x="21783" y="736070"/>
                    <a:pt x="0" y="714287"/>
                    <a:pt x="0" y="687416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5F1EE">
                <a:alpha val="42745"/>
              </a:srgbClr>
            </a:solidFill>
            <a:ln w="190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22896" cy="774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3463478" y="5970172"/>
            <a:ext cx="5566544" cy="55665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33857" y="3388528"/>
            <a:ext cx="8115300" cy="3922413"/>
            <a:chOff x="0" y="0"/>
            <a:chExt cx="1522896" cy="736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2896" cy="736070"/>
            </a:xfrm>
            <a:custGeom>
              <a:avLst/>
              <a:gdLst/>
              <a:ahLst/>
              <a:cxnLst/>
              <a:rect r="r" b="b" t="t" l="l"/>
              <a:pathLst>
                <a:path h="736070" w="1522896">
                  <a:moveTo>
                    <a:pt x="48654" y="0"/>
                  </a:moveTo>
                  <a:lnTo>
                    <a:pt x="1474242" y="0"/>
                  </a:lnTo>
                  <a:cubicBezTo>
                    <a:pt x="1501113" y="0"/>
                    <a:pt x="1522896" y="21783"/>
                    <a:pt x="1522896" y="48654"/>
                  </a:cubicBezTo>
                  <a:lnTo>
                    <a:pt x="1522896" y="687416"/>
                  </a:lnTo>
                  <a:cubicBezTo>
                    <a:pt x="1522896" y="714287"/>
                    <a:pt x="1501113" y="736070"/>
                    <a:pt x="1474242" y="736070"/>
                  </a:cubicBezTo>
                  <a:lnTo>
                    <a:pt x="48654" y="736070"/>
                  </a:lnTo>
                  <a:cubicBezTo>
                    <a:pt x="21783" y="736070"/>
                    <a:pt x="0" y="714287"/>
                    <a:pt x="0" y="687416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5F1E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22896" cy="774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424845" y="3949754"/>
            <a:ext cx="2588716" cy="2588716"/>
          </a:xfrm>
          <a:custGeom>
            <a:avLst/>
            <a:gdLst/>
            <a:ahLst/>
            <a:cxnLst/>
            <a:rect r="r" b="b" t="t" l="l"/>
            <a:pathLst>
              <a:path h="2588716" w="2588716">
                <a:moveTo>
                  <a:pt x="0" y="0"/>
                </a:moveTo>
                <a:lnTo>
                  <a:pt x="2588715" y="0"/>
                </a:lnTo>
                <a:lnTo>
                  <a:pt x="2588715" y="2588716"/>
                </a:lnTo>
                <a:lnTo>
                  <a:pt x="0" y="2588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16630" y="4906546"/>
            <a:ext cx="1542670" cy="1378761"/>
          </a:xfrm>
          <a:custGeom>
            <a:avLst/>
            <a:gdLst/>
            <a:ahLst/>
            <a:cxnLst/>
            <a:rect r="r" b="b" t="t" l="l"/>
            <a:pathLst>
              <a:path h="1378761" w="1542670">
                <a:moveTo>
                  <a:pt x="0" y="0"/>
                </a:moveTo>
                <a:lnTo>
                  <a:pt x="1542670" y="0"/>
                </a:lnTo>
                <a:lnTo>
                  <a:pt x="1542670" y="1378762"/>
                </a:lnTo>
                <a:lnTo>
                  <a:pt x="0" y="1378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261350">
            <a:off x="6295101" y="6805509"/>
            <a:ext cx="5697797" cy="3895869"/>
          </a:xfrm>
          <a:custGeom>
            <a:avLst/>
            <a:gdLst/>
            <a:ahLst/>
            <a:cxnLst/>
            <a:rect r="r" b="b" t="t" l="l"/>
            <a:pathLst>
              <a:path h="3895869" w="5697797">
                <a:moveTo>
                  <a:pt x="0" y="0"/>
                </a:moveTo>
                <a:lnTo>
                  <a:pt x="5697798" y="0"/>
                </a:lnTo>
                <a:lnTo>
                  <a:pt x="5697798" y="3895869"/>
                </a:lnTo>
                <a:lnTo>
                  <a:pt x="0" y="3895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125476" y="632137"/>
            <a:ext cx="10037047" cy="313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5599" spc="-2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 DE TRABAJO PARA EL DESA</a:t>
            </a:r>
            <a:r>
              <a:rPr lang="en-US" sz="5599" spc="-2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RROLLO DEL PROYECTO</a:t>
            </a:r>
          </a:p>
          <a:p>
            <a:pPr algn="ctr">
              <a:lnSpc>
                <a:spcPts val="615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90384" y="3810401"/>
            <a:ext cx="7131894" cy="72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4"/>
              </a:lnSpc>
            </a:pPr>
            <a:r>
              <a:rPr lang="en-US" sz="4210" spc="1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Cascada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03316" y="3816070"/>
            <a:ext cx="7623597" cy="72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4"/>
              </a:lnSpc>
            </a:pPr>
            <a:r>
              <a:rPr lang="en-US" sz="4210" spc="1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 incremental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5074" y="5095875"/>
            <a:ext cx="713189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Cumplir tiempos académicos</a:t>
            </a:r>
          </a:p>
          <a:p>
            <a:pPr algn="l">
              <a:lnSpc>
                <a:spcPts val="3500"/>
              </a:lnSpc>
            </a:pP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estructurados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3857" y="4868446"/>
            <a:ext cx="5926091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74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Validación de funcionalidades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74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Detección temprana de errores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74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Realizar mejoras sobre la marcha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363026" y="-2006256"/>
            <a:ext cx="5566544" cy="5566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1090035" y="8988615"/>
            <a:ext cx="2596770" cy="25967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030556"/>
            <a:ext cx="6852976" cy="2942699"/>
            <a:chOff x="0" y="0"/>
            <a:chExt cx="1286011" cy="5522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6011" cy="552219"/>
            </a:xfrm>
            <a:custGeom>
              <a:avLst/>
              <a:gdLst/>
              <a:ahLst/>
              <a:cxnLst/>
              <a:rect r="r" b="b" t="t" l="l"/>
              <a:pathLst>
                <a:path h="552219" w="1286011">
                  <a:moveTo>
                    <a:pt x="57616" y="0"/>
                  </a:moveTo>
                  <a:lnTo>
                    <a:pt x="1228396" y="0"/>
                  </a:lnTo>
                  <a:cubicBezTo>
                    <a:pt x="1243676" y="0"/>
                    <a:pt x="1258331" y="6070"/>
                    <a:pt x="1269136" y="16875"/>
                  </a:cubicBezTo>
                  <a:cubicBezTo>
                    <a:pt x="1279941" y="27680"/>
                    <a:pt x="1286011" y="42335"/>
                    <a:pt x="1286011" y="57616"/>
                  </a:cubicBezTo>
                  <a:lnTo>
                    <a:pt x="1286011" y="494604"/>
                  </a:lnTo>
                  <a:cubicBezTo>
                    <a:pt x="1286011" y="509884"/>
                    <a:pt x="1279941" y="524539"/>
                    <a:pt x="1269136" y="535344"/>
                  </a:cubicBezTo>
                  <a:cubicBezTo>
                    <a:pt x="1258331" y="546149"/>
                    <a:pt x="1243676" y="552219"/>
                    <a:pt x="1228396" y="552219"/>
                  </a:cubicBezTo>
                  <a:lnTo>
                    <a:pt x="57616" y="552219"/>
                  </a:lnTo>
                  <a:cubicBezTo>
                    <a:pt x="42335" y="552219"/>
                    <a:pt x="27680" y="546149"/>
                    <a:pt x="16875" y="535344"/>
                  </a:cubicBezTo>
                  <a:cubicBezTo>
                    <a:pt x="6070" y="524539"/>
                    <a:pt x="0" y="509884"/>
                    <a:pt x="0" y="494604"/>
                  </a:cubicBezTo>
                  <a:lnTo>
                    <a:pt x="0" y="57616"/>
                  </a:lnTo>
                  <a:cubicBezTo>
                    <a:pt x="0" y="42335"/>
                    <a:pt x="6070" y="27680"/>
                    <a:pt x="16875" y="16875"/>
                  </a:cubicBezTo>
                  <a:cubicBezTo>
                    <a:pt x="27680" y="6070"/>
                    <a:pt x="42335" y="0"/>
                    <a:pt x="57616" y="0"/>
                  </a:cubicBezTo>
                  <a:close/>
                </a:path>
              </a:pathLst>
            </a:custGeom>
            <a:solidFill>
              <a:srgbClr val="F5F1EE">
                <a:alpha val="42745"/>
              </a:srgbClr>
            </a:solidFill>
            <a:ln w="190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6011" cy="590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7512" y="6820980"/>
            <a:ext cx="6852976" cy="2942699"/>
            <a:chOff x="0" y="0"/>
            <a:chExt cx="1286011" cy="5522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6011" cy="552219"/>
            </a:xfrm>
            <a:custGeom>
              <a:avLst/>
              <a:gdLst/>
              <a:ahLst/>
              <a:cxnLst/>
              <a:rect r="r" b="b" t="t" l="l"/>
              <a:pathLst>
                <a:path h="552219" w="1286011">
                  <a:moveTo>
                    <a:pt x="57616" y="0"/>
                  </a:moveTo>
                  <a:lnTo>
                    <a:pt x="1228396" y="0"/>
                  </a:lnTo>
                  <a:cubicBezTo>
                    <a:pt x="1243676" y="0"/>
                    <a:pt x="1258331" y="6070"/>
                    <a:pt x="1269136" y="16875"/>
                  </a:cubicBezTo>
                  <a:cubicBezTo>
                    <a:pt x="1279941" y="27680"/>
                    <a:pt x="1286011" y="42335"/>
                    <a:pt x="1286011" y="57616"/>
                  </a:cubicBezTo>
                  <a:lnTo>
                    <a:pt x="1286011" y="494604"/>
                  </a:lnTo>
                  <a:cubicBezTo>
                    <a:pt x="1286011" y="509884"/>
                    <a:pt x="1279941" y="524539"/>
                    <a:pt x="1269136" y="535344"/>
                  </a:cubicBezTo>
                  <a:cubicBezTo>
                    <a:pt x="1258331" y="546149"/>
                    <a:pt x="1243676" y="552219"/>
                    <a:pt x="1228396" y="552219"/>
                  </a:cubicBezTo>
                  <a:lnTo>
                    <a:pt x="57616" y="552219"/>
                  </a:lnTo>
                  <a:cubicBezTo>
                    <a:pt x="42335" y="552219"/>
                    <a:pt x="27680" y="546149"/>
                    <a:pt x="16875" y="535344"/>
                  </a:cubicBezTo>
                  <a:cubicBezTo>
                    <a:pt x="6070" y="524539"/>
                    <a:pt x="0" y="509884"/>
                    <a:pt x="0" y="494604"/>
                  </a:cubicBezTo>
                  <a:lnTo>
                    <a:pt x="0" y="57616"/>
                  </a:lnTo>
                  <a:cubicBezTo>
                    <a:pt x="0" y="42335"/>
                    <a:pt x="6070" y="27680"/>
                    <a:pt x="16875" y="16875"/>
                  </a:cubicBezTo>
                  <a:cubicBezTo>
                    <a:pt x="27680" y="6070"/>
                    <a:pt x="42335" y="0"/>
                    <a:pt x="57616" y="0"/>
                  </a:cubicBezTo>
                  <a:close/>
                </a:path>
              </a:pathLst>
            </a:custGeom>
            <a:solidFill>
              <a:srgbClr val="F5F1EE">
                <a:alpha val="42745"/>
              </a:srgbClr>
            </a:solidFill>
            <a:ln w="190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86011" cy="590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06324" y="3030556"/>
            <a:ext cx="6852976" cy="2942699"/>
            <a:chOff x="0" y="0"/>
            <a:chExt cx="1286011" cy="5522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6011" cy="552219"/>
            </a:xfrm>
            <a:custGeom>
              <a:avLst/>
              <a:gdLst/>
              <a:ahLst/>
              <a:cxnLst/>
              <a:rect r="r" b="b" t="t" l="l"/>
              <a:pathLst>
                <a:path h="552219" w="1286011">
                  <a:moveTo>
                    <a:pt x="57616" y="0"/>
                  </a:moveTo>
                  <a:lnTo>
                    <a:pt x="1228396" y="0"/>
                  </a:lnTo>
                  <a:cubicBezTo>
                    <a:pt x="1243676" y="0"/>
                    <a:pt x="1258331" y="6070"/>
                    <a:pt x="1269136" y="16875"/>
                  </a:cubicBezTo>
                  <a:cubicBezTo>
                    <a:pt x="1279941" y="27680"/>
                    <a:pt x="1286011" y="42335"/>
                    <a:pt x="1286011" y="57616"/>
                  </a:cubicBezTo>
                  <a:lnTo>
                    <a:pt x="1286011" y="494604"/>
                  </a:lnTo>
                  <a:cubicBezTo>
                    <a:pt x="1286011" y="509884"/>
                    <a:pt x="1279941" y="524539"/>
                    <a:pt x="1269136" y="535344"/>
                  </a:cubicBezTo>
                  <a:cubicBezTo>
                    <a:pt x="1258331" y="546149"/>
                    <a:pt x="1243676" y="552219"/>
                    <a:pt x="1228396" y="552219"/>
                  </a:cubicBezTo>
                  <a:lnTo>
                    <a:pt x="57616" y="552219"/>
                  </a:lnTo>
                  <a:cubicBezTo>
                    <a:pt x="42335" y="552219"/>
                    <a:pt x="27680" y="546149"/>
                    <a:pt x="16875" y="535344"/>
                  </a:cubicBezTo>
                  <a:cubicBezTo>
                    <a:pt x="6070" y="524539"/>
                    <a:pt x="0" y="509884"/>
                    <a:pt x="0" y="494604"/>
                  </a:cubicBezTo>
                  <a:lnTo>
                    <a:pt x="0" y="57616"/>
                  </a:lnTo>
                  <a:cubicBezTo>
                    <a:pt x="0" y="42335"/>
                    <a:pt x="6070" y="27680"/>
                    <a:pt x="16875" y="16875"/>
                  </a:cubicBezTo>
                  <a:cubicBezTo>
                    <a:pt x="27680" y="6070"/>
                    <a:pt x="42335" y="0"/>
                    <a:pt x="57616" y="0"/>
                  </a:cubicBezTo>
                  <a:close/>
                </a:path>
              </a:pathLst>
            </a:custGeom>
            <a:solidFill>
              <a:srgbClr val="F5F1EE">
                <a:alpha val="42745"/>
              </a:srgbClr>
            </a:solidFill>
            <a:ln w="190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86011" cy="590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085582" y="7178824"/>
            <a:ext cx="2136505" cy="2152650"/>
          </a:xfrm>
          <a:custGeom>
            <a:avLst/>
            <a:gdLst/>
            <a:ahLst/>
            <a:cxnLst/>
            <a:rect r="r" b="b" t="t" l="l"/>
            <a:pathLst>
              <a:path h="2152650" w="2136505">
                <a:moveTo>
                  <a:pt x="0" y="0"/>
                </a:moveTo>
                <a:lnTo>
                  <a:pt x="2136505" y="0"/>
                </a:lnTo>
                <a:lnTo>
                  <a:pt x="213650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65913" y="6605476"/>
            <a:ext cx="2416358" cy="2620542"/>
          </a:xfrm>
          <a:custGeom>
            <a:avLst/>
            <a:gdLst/>
            <a:ahLst/>
            <a:cxnLst/>
            <a:rect r="r" b="b" t="t" l="l"/>
            <a:pathLst>
              <a:path h="2620542" w="2416358">
                <a:moveTo>
                  <a:pt x="0" y="0"/>
                </a:moveTo>
                <a:lnTo>
                  <a:pt x="2416358" y="0"/>
                </a:lnTo>
                <a:lnTo>
                  <a:pt x="2416358" y="2620542"/>
                </a:lnTo>
                <a:lnTo>
                  <a:pt x="0" y="2620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068255" y="461546"/>
            <a:ext cx="815149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spc="-2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CRONOGRAMA PARA EL DESARROLLO DEL PROYECTO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1400" y="3153726"/>
            <a:ext cx="3193788" cy="72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4"/>
              </a:lnSpc>
            </a:pPr>
            <a:r>
              <a:rPr lang="en-US" sz="4210" spc="1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Fase 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50212" y="7093099"/>
            <a:ext cx="3193788" cy="72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4"/>
              </a:lnSpc>
            </a:pPr>
            <a:r>
              <a:rPr lang="en-US" sz="4210" spc="1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Fase III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39025" y="3153726"/>
            <a:ext cx="3193788" cy="72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4"/>
              </a:lnSpc>
            </a:pPr>
            <a:r>
              <a:rPr lang="en-US" sz="4210" spc="1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Fase II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932897"/>
            <a:ext cx="560580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Levantamiento de requisitos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Diseño UI/UX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06324" y="3932897"/>
            <a:ext cx="66202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Configuración del entorno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Construcción del módulo inventario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Implementación algoritmo 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17512" y="7868122"/>
            <a:ext cx="560580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Comparador de oferta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Notificaciones push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IA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897113" y="-2264300"/>
            <a:ext cx="5566544" cy="5566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392633" y="8556327"/>
            <a:ext cx="2637688" cy="263768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842518" y="733026"/>
            <a:ext cx="6602964" cy="187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 spc="16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ARQUITECTURA DEL SOFTWARE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4811751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189750" y="3854972"/>
            <a:ext cx="1910106" cy="191010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86B6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87746" y="3856698"/>
            <a:ext cx="1910106" cy="19101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CCE2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85741" y="3854972"/>
            <a:ext cx="1910106" cy="191010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D5B5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041227" y="4053700"/>
            <a:ext cx="1592360" cy="1486866"/>
          </a:xfrm>
          <a:custGeom>
            <a:avLst/>
            <a:gdLst/>
            <a:ahLst/>
            <a:cxnLst/>
            <a:rect r="r" b="b" t="t" l="l"/>
            <a:pathLst>
              <a:path h="1486866" w="1592360">
                <a:moveTo>
                  <a:pt x="0" y="0"/>
                </a:moveTo>
                <a:lnTo>
                  <a:pt x="1592360" y="0"/>
                </a:lnTo>
                <a:lnTo>
                  <a:pt x="1592360" y="1486866"/>
                </a:lnTo>
                <a:lnTo>
                  <a:pt x="0" y="1486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510528" y="4177476"/>
            <a:ext cx="1268551" cy="1268551"/>
          </a:xfrm>
          <a:custGeom>
            <a:avLst/>
            <a:gdLst/>
            <a:ahLst/>
            <a:cxnLst/>
            <a:rect r="r" b="b" t="t" l="l"/>
            <a:pathLst>
              <a:path h="1268551" w="1268551">
                <a:moveTo>
                  <a:pt x="0" y="0"/>
                </a:moveTo>
                <a:lnTo>
                  <a:pt x="1268551" y="0"/>
                </a:lnTo>
                <a:lnTo>
                  <a:pt x="1268551" y="1268550"/>
                </a:lnTo>
                <a:lnTo>
                  <a:pt x="0" y="1268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18362" y="4295675"/>
            <a:ext cx="1448873" cy="1028700"/>
          </a:xfrm>
          <a:custGeom>
            <a:avLst/>
            <a:gdLst/>
            <a:ahLst/>
            <a:cxnLst/>
            <a:rect r="r" b="b" t="t" l="l"/>
            <a:pathLst>
              <a:path h="1028700" w="1448873">
                <a:moveTo>
                  <a:pt x="0" y="0"/>
                </a:moveTo>
                <a:lnTo>
                  <a:pt x="1448874" y="0"/>
                </a:lnTo>
                <a:lnTo>
                  <a:pt x="144887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60263" y="7071729"/>
            <a:ext cx="3671288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9"/>
              </a:lnSpc>
              <a:spcBef>
                <a:spcPct val="0"/>
              </a:spcBef>
            </a:pPr>
            <a:r>
              <a:rPr lang="en-US" b="true" sz="2499" spc="-154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ncar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g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do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de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l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m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an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ej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o de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datos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y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cone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x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i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ó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n con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F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ireba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se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F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i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restore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07155" y="7071729"/>
            <a:ext cx="3671288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9"/>
              </a:lnSpc>
              <a:spcBef>
                <a:spcPct val="0"/>
              </a:spcBef>
            </a:pPr>
            <a:r>
              <a:rPr lang="en-US" b="true" sz="2499" spc="-154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C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o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rr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espon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de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la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s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pant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ll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s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de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s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rollada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s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en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ct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N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i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v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54893" y="7052679"/>
            <a:ext cx="3671288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9"/>
              </a:lnSpc>
              <a:spcBef>
                <a:spcPct val="0"/>
              </a:spcBef>
            </a:pPr>
            <a:r>
              <a:rPr lang="en-US" b="true" sz="2499" spc="-154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G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estiona la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lógi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ca de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nego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c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io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y c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o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mu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nic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ación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e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nt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re la in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er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f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z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y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la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b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ase 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d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 da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tos</a:t>
            </a:r>
            <a:r>
              <a:rPr lang="en-US" b="true" sz="2499" spc="-154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8051" y="6090654"/>
            <a:ext cx="3873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MODEL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04045" y="6090654"/>
            <a:ext cx="3873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VIEW-MODEL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07393" y="6090654"/>
            <a:ext cx="447081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VIEW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2610" y="-351615"/>
            <a:ext cx="17259300" cy="10638615"/>
          </a:xfrm>
          <a:custGeom>
            <a:avLst/>
            <a:gdLst/>
            <a:ahLst/>
            <a:cxnLst/>
            <a:rect r="r" b="b" t="t" l="l"/>
            <a:pathLst>
              <a:path h="10638615" w="17259300">
                <a:moveTo>
                  <a:pt x="0" y="0"/>
                </a:moveTo>
                <a:lnTo>
                  <a:pt x="17259300" y="0"/>
                </a:lnTo>
                <a:lnTo>
                  <a:pt x="17259300" y="10638615"/>
                </a:lnTo>
                <a:lnTo>
                  <a:pt x="0" y="10638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77" r="0" b="-407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897113" y="-2264300"/>
            <a:ext cx="5566544" cy="5566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419003" y="8643147"/>
            <a:ext cx="2637688" cy="263768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99841" y="4078583"/>
            <a:ext cx="3487293" cy="4114800"/>
          </a:xfrm>
          <a:custGeom>
            <a:avLst/>
            <a:gdLst/>
            <a:ahLst/>
            <a:cxnLst/>
            <a:rect r="r" b="b" t="t" l="l"/>
            <a:pathLst>
              <a:path h="4114800" w="3487293">
                <a:moveTo>
                  <a:pt x="0" y="0"/>
                </a:moveTo>
                <a:lnTo>
                  <a:pt x="3487293" y="0"/>
                </a:lnTo>
                <a:lnTo>
                  <a:pt x="34872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7113" y="3665188"/>
            <a:ext cx="2955175" cy="4114800"/>
          </a:xfrm>
          <a:custGeom>
            <a:avLst/>
            <a:gdLst/>
            <a:ahLst/>
            <a:cxnLst/>
            <a:rect r="r" b="b" t="t" l="l"/>
            <a:pathLst>
              <a:path h="4114800" w="2955175">
                <a:moveTo>
                  <a:pt x="0" y="0"/>
                </a:moveTo>
                <a:lnTo>
                  <a:pt x="2955174" y="0"/>
                </a:lnTo>
                <a:lnTo>
                  <a:pt x="29551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82659" y="3665188"/>
            <a:ext cx="4922681" cy="4615014"/>
          </a:xfrm>
          <a:custGeom>
            <a:avLst/>
            <a:gdLst/>
            <a:ahLst/>
            <a:cxnLst/>
            <a:rect r="r" b="b" t="t" l="l"/>
            <a:pathLst>
              <a:path h="4615014" w="4922681">
                <a:moveTo>
                  <a:pt x="0" y="0"/>
                </a:moveTo>
                <a:lnTo>
                  <a:pt x="4922682" y="0"/>
                </a:lnTo>
                <a:lnTo>
                  <a:pt x="4922682" y="4615014"/>
                </a:lnTo>
                <a:lnTo>
                  <a:pt x="0" y="4615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29857" y="517506"/>
            <a:ext cx="4326836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-36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MODELO DE DATOS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0292" y="-4544367"/>
            <a:ext cx="17127415" cy="14831367"/>
            <a:chOff x="0" y="0"/>
            <a:chExt cx="22836554" cy="197751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6059156"/>
              <a:ext cx="228365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36554">
                  <a:moveTo>
                    <a:pt x="0" y="0"/>
                  </a:moveTo>
                  <a:lnTo>
                    <a:pt x="22836554" y="0"/>
                  </a:lnTo>
                  <a:lnTo>
                    <a:pt x="228365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78" t="-6232" r="-523" b="-973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87174" y="0"/>
              <a:ext cx="6712651" cy="6704455"/>
            </a:xfrm>
            <a:custGeom>
              <a:avLst/>
              <a:gdLst/>
              <a:ahLst/>
              <a:cxnLst/>
              <a:rect r="r" b="b" t="t" l="l"/>
              <a:pathLst>
                <a:path h="6704455" w="6712651">
                  <a:moveTo>
                    <a:pt x="0" y="0"/>
                  </a:moveTo>
                  <a:lnTo>
                    <a:pt x="6712651" y="0"/>
                  </a:lnTo>
                  <a:lnTo>
                    <a:pt x="6712651" y="6704455"/>
                  </a:lnTo>
                  <a:lnTo>
                    <a:pt x="0" y="6704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2709" y="-783667"/>
            <a:ext cx="8702583" cy="563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</a:p>
          <a:p>
            <a:pPr algn="ctr">
              <a:lnSpc>
                <a:spcPts val="11200"/>
              </a:lnSpc>
            </a:pPr>
            <a:r>
              <a:rPr lang="en-US" sz="8000" spc="24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TECNOLOGÍAS UTILIZADAS</a:t>
            </a:r>
          </a:p>
          <a:p>
            <a:pPr algn="l">
              <a:lnSpc>
                <a:spcPts val="1120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0" y="4811751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07983" y="3856698"/>
            <a:ext cx="1910106" cy="19101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86B6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32889" y="3811053"/>
            <a:ext cx="1910106" cy="19101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CCE2A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78572" y="3772802"/>
            <a:ext cx="1910106" cy="191010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D5B5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834057" y="3971530"/>
            <a:ext cx="1592360" cy="1486866"/>
          </a:xfrm>
          <a:custGeom>
            <a:avLst/>
            <a:gdLst/>
            <a:ahLst/>
            <a:cxnLst/>
            <a:rect r="r" b="b" t="t" l="l"/>
            <a:pathLst>
              <a:path h="1486866" w="1592360">
                <a:moveTo>
                  <a:pt x="0" y="0"/>
                </a:moveTo>
                <a:lnTo>
                  <a:pt x="1592360" y="0"/>
                </a:lnTo>
                <a:lnTo>
                  <a:pt x="1592360" y="1486866"/>
                </a:lnTo>
                <a:lnTo>
                  <a:pt x="0" y="1486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8761" y="4179202"/>
            <a:ext cx="1268551" cy="1268551"/>
          </a:xfrm>
          <a:custGeom>
            <a:avLst/>
            <a:gdLst/>
            <a:ahLst/>
            <a:cxnLst/>
            <a:rect r="r" b="b" t="t" l="l"/>
            <a:pathLst>
              <a:path h="1268551" w="1268551">
                <a:moveTo>
                  <a:pt x="0" y="0"/>
                </a:moveTo>
                <a:lnTo>
                  <a:pt x="1268551" y="0"/>
                </a:lnTo>
                <a:lnTo>
                  <a:pt x="1268551" y="1268550"/>
                </a:lnTo>
                <a:lnTo>
                  <a:pt x="0" y="1268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63505" y="4250030"/>
            <a:ext cx="1448873" cy="1028700"/>
          </a:xfrm>
          <a:custGeom>
            <a:avLst/>
            <a:gdLst/>
            <a:ahLst/>
            <a:cxnLst/>
            <a:rect r="r" b="b" t="t" l="l"/>
            <a:pathLst>
              <a:path h="1028700" w="1448873">
                <a:moveTo>
                  <a:pt x="0" y="0"/>
                </a:moveTo>
                <a:lnTo>
                  <a:pt x="1448873" y="0"/>
                </a:lnTo>
                <a:lnTo>
                  <a:pt x="14488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78496" y="7006780"/>
            <a:ext cx="3671288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6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React Native con Expo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6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React Native Paper (para la interfaz)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52298" y="6959409"/>
            <a:ext cx="3671288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6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Fi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re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ba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se 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Au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h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ent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ic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ati</a:t>
            </a: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on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Cloud Firestore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69" strike="noStrike" u="non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Firebase Cloud Messaging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4004" y="7006780"/>
            <a:ext cx="3671288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6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Node.js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6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Express.js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6284" y="6092380"/>
            <a:ext cx="3873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FRONTEND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96875" y="6008484"/>
            <a:ext cx="38735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BACKEND COMPLEMENTARIO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52535" y="6045009"/>
            <a:ext cx="447081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BACKEND CLOUD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152795" y="3772802"/>
            <a:ext cx="1910106" cy="191010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D5B5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408280" y="3971530"/>
            <a:ext cx="1592360" cy="1486866"/>
          </a:xfrm>
          <a:custGeom>
            <a:avLst/>
            <a:gdLst/>
            <a:ahLst/>
            <a:cxnLst/>
            <a:rect r="r" b="b" t="t" l="l"/>
            <a:pathLst>
              <a:path h="1486866" w="1592360">
                <a:moveTo>
                  <a:pt x="0" y="0"/>
                </a:moveTo>
                <a:lnTo>
                  <a:pt x="1592360" y="0"/>
                </a:lnTo>
                <a:lnTo>
                  <a:pt x="1592360" y="1486866"/>
                </a:lnTo>
                <a:lnTo>
                  <a:pt x="0" y="1486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272204" y="7084808"/>
            <a:ext cx="3671288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 spc="6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Open AI (para el asistente farmacológico)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71098" y="6008484"/>
            <a:ext cx="38735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INTELIGENCIA ARTIFICIAL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732491" y="-2422661"/>
            <a:ext cx="5566544" cy="5566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1754572" y="7696448"/>
            <a:ext cx="5566544" cy="5566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120407" y="3768435"/>
            <a:ext cx="4337075" cy="4114800"/>
          </a:xfrm>
          <a:custGeom>
            <a:avLst/>
            <a:gdLst/>
            <a:ahLst/>
            <a:cxnLst/>
            <a:rect r="r" b="b" t="t" l="l"/>
            <a:pathLst>
              <a:path h="4114800" w="4337075">
                <a:moveTo>
                  <a:pt x="0" y="0"/>
                </a:moveTo>
                <a:lnTo>
                  <a:pt x="4337076" y="0"/>
                </a:lnTo>
                <a:lnTo>
                  <a:pt x="4337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92043" y="5143500"/>
            <a:ext cx="4092287" cy="1748523"/>
          </a:xfrm>
          <a:custGeom>
            <a:avLst/>
            <a:gdLst/>
            <a:ahLst/>
            <a:cxnLst/>
            <a:rect r="r" b="b" t="t" l="l"/>
            <a:pathLst>
              <a:path h="1748523" w="4092287">
                <a:moveTo>
                  <a:pt x="0" y="0"/>
                </a:moveTo>
                <a:lnTo>
                  <a:pt x="4092288" y="0"/>
                </a:lnTo>
                <a:lnTo>
                  <a:pt x="4092288" y="1748523"/>
                </a:lnTo>
                <a:lnTo>
                  <a:pt x="0" y="1748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39816" y="846370"/>
            <a:ext cx="6008368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sz="6999" spc="-36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VIDEO EXPLICATIVO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585" t="2210" r="585" b="0"/>
          <a:stretch>
            <a:fillRect/>
          </a:stretch>
        </p:blipFill>
        <p:spPr>
          <a:xfrm flipH="false" flipV="false" rot="0">
            <a:off x="153785" y="148791"/>
            <a:ext cx="17896822" cy="99609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24593" y="287355"/>
            <a:ext cx="8438813" cy="207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1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RESULTADOS OBTENIDOS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6961" y="2651388"/>
            <a:ext cx="17554079" cy="7241058"/>
          </a:xfrm>
          <a:custGeom>
            <a:avLst/>
            <a:gdLst/>
            <a:ahLst/>
            <a:cxnLst/>
            <a:rect r="r" b="b" t="t" l="l"/>
            <a:pathLst>
              <a:path h="7241058" w="17554079">
                <a:moveTo>
                  <a:pt x="0" y="0"/>
                </a:moveTo>
                <a:lnTo>
                  <a:pt x="17554078" y="0"/>
                </a:lnTo>
                <a:lnTo>
                  <a:pt x="17554078" y="7241057"/>
                </a:lnTo>
                <a:lnTo>
                  <a:pt x="0" y="7241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4476028" y="-2422661"/>
            <a:ext cx="5566544" cy="5566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68755"/>
            <a:ext cx="6878478" cy="3324613"/>
            <a:chOff x="0" y="0"/>
            <a:chExt cx="1522896" cy="736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96" cy="736070"/>
            </a:xfrm>
            <a:custGeom>
              <a:avLst/>
              <a:gdLst/>
              <a:ahLst/>
              <a:cxnLst/>
              <a:rect r="r" b="b" t="t" l="l"/>
              <a:pathLst>
                <a:path h="736070" w="1522896">
                  <a:moveTo>
                    <a:pt x="57402" y="0"/>
                  </a:moveTo>
                  <a:lnTo>
                    <a:pt x="1465494" y="0"/>
                  </a:lnTo>
                  <a:cubicBezTo>
                    <a:pt x="1480718" y="0"/>
                    <a:pt x="1495318" y="6048"/>
                    <a:pt x="1506083" y="16813"/>
                  </a:cubicBezTo>
                  <a:cubicBezTo>
                    <a:pt x="1516848" y="27578"/>
                    <a:pt x="1522896" y="42178"/>
                    <a:pt x="1522896" y="57402"/>
                  </a:cubicBezTo>
                  <a:lnTo>
                    <a:pt x="1522896" y="678668"/>
                  </a:lnTo>
                  <a:cubicBezTo>
                    <a:pt x="1522896" y="693892"/>
                    <a:pt x="1516848" y="708492"/>
                    <a:pt x="1506083" y="719257"/>
                  </a:cubicBezTo>
                  <a:cubicBezTo>
                    <a:pt x="1495318" y="730022"/>
                    <a:pt x="1480718" y="736070"/>
                    <a:pt x="1465494" y="736070"/>
                  </a:cubicBezTo>
                  <a:lnTo>
                    <a:pt x="57402" y="736070"/>
                  </a:lnTo>
                  <a:cubicBezTo>
                    <a:pt x="42178" y="736070"/>
                    <a:pt x="27578" y="730022"/>
                    <a:pt x="16813" y="719257"/>
                  </a:cubicBezTo>
                  <a:cubicBezTo>
                    <a:pt x="6048" y="708492"/>
                    <a:pt x="0" y="693892"/>
                    <a:pt x="0" y="678668"/>
                  </a:cubicBezTo>
                  <a:lnTo>
                    <a:pt x="0" y="57402"/>
                  </a:lnTo>
                  <a:cubicBezTo>
                    <a:pt x="0" y="42178"/>
                    <a:pt x="6048" y="27578"/>
                    <a:pt x="16813" y="16813"/>
                  </a:cubicBezTo>
                  <a:cubicBezTo>
                    <a:pt x="27578" y="6048"/>
                    <a:pt x="42178" y="0"/>
                    <a:pt x="57402" y="0"/>
                  </a:cubicBezTo>
                  <a:close/>
                </a:path>
              </a:pathLst>
            </a:custGeom>
            <a:solidFill>
              <a:srgbClr val="F5F1EE">
                <a:alpha val="42745"/>
              </a:srgbClr>
            </a:solidFill>
            <a:ln w="190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22896" cy="774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211216"/>
            <a:ext cx="6878478" cy="3324613"/>
            <a:chOff x="0" y="0"/>
            <a:chExt cx="1522896" cy="736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2896" cy="736070"/>
            </a:xfrm>
            <a:custGeom>
              <a:avLst/>
              <a:gdLst/>
              <a:ahLst/>
              <a:cxnLst/>
              <a:rect r="r" b="b" t="t" l="l"/>
              <a:pathLst>
                <a:path h="736070" w="1522896">
                  <a:moveTo>
                    <a:pt x="57402" y="0"/>
                  </a:moveTo>
                  <a:lnTo>
                    <a:pt x="1465494" y="0"/>
                  </a:lnTo>
                  <a:cubicBezTo>
                    <a:pt x="1480718" y="0"/>
                    <a:pt x="1495318" y="6048"/>
                    <a:pt x="1506083" y="16813"/>
                  </a:cubicBezTo>
                  <a:cubicBezTo>
                    <a:pt x="1516848" y="27578"/>
                    <a:pt x="1522896" y="42178"/>
                    <a:pt x="1522896" y="57402"/>
                  </a:cubicBezTo>
                  <a:lnTo>
                    <a:pt x="1522896" y="678668"/>
                  </a:lnTo>
                  <a:cubicBezTo>
                    <a:pt x="1522896" y="693892"/>
                    <a:pt x="1516848" y="708492"/>
                    <a:pt x="1506083" y="719257"/>
                  </a:cubicBezTo>
                  <a:cubicBezTo>
                    <a:pt x="1495318" y="730022"/>
                    <a:pt x="1480718" y="736070"/>
                    <a:pt x="1465494" y="736070"/>
                  </a:cubicBezTo>
                  <a:lnTo>
                    <a:pt x="57402" y="736070"/>
                  </a:lnTo>
                  <a:cubicBezTo>
                    <a:pt x="42178" y="736070"/>
                    <a:pt x="27578" y="730022"/>
                    <a:pt x="16813" y="719257"/>
                  </a:cubicBezTo>
                  <a:cubicBezTo>
                    <a:pt x="6048" y="708492"/>
                    <a:pt x="0" y="693892"/>
                    <a:pt x="0" y="678668"/>
                  </a:cubicBezTo>
                  <a:lnTo>
                    <a:pt x="0" y="57402"/>
                  </a:lnTo>
                  <a:cubicBezTo>
                    <a:pt x="0" y="42178"/>
                    <a:pt x="6048" y="27578"/>
                    <a:pt x="16813" y="16813"/>
                  </a:cubicBezTo>
                  <a:cubicBezTo>
                    <a:pt x="27578" y="6048"/>
                    <a:pt x="42178" y="0"/>
                    <a:pt x="57402" y="0"/>
                  </a:cubicBezTo>
                  <a:close/>
                </a:path>
              </a:pathLst>
            </a:custGeom>
            <a:solidFill>
              <a:srgbClr val="F5F1EE">
                <a:alpha val="42745"/>
              </a:srgbClr>
            </a:solidFill>
            <a:ln w="190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22896" cy="774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12066" y="4071170"/>
            <a:ext cx="1711746" cy="1711746"/>
          </a:xfrm>
          <a:custGeom>
            <a:avLst/>
            <a:gdLst/>
            <a:ahLst/>
            <a:cxnLst/>
            <a:rect r="r" b="b" t="t" l="l"/>
            <a:pathLst>
              <a:path h="1711746" w="1711746">
                <a:moveTo>
                  <a:pt x="0" y="0"/>
                </a:moveTo>
                <a:lnTo>
                  <a:pt x="1711746" y="0"/>
                </a:lnTo>
                <a:lnTo>
                  <a:pt x="1711746" y="1711746"/>
                </a:lnTo>
                <a:lnTo>
                  <a:pt x="0" y="1711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880002" y="2668755"/>
            <a:ext cx="6991751" cy="3379362"/>
            <a:chOff x="0" y="0"/>
            <a:chExt cx="1522896" cy="7360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2896" cy="736070"/>
            </a:xfrm>
            <a:custGeom>
              <a:avLst/>
              <a:gdLst/>
              <a:ahLst/>
              <a:cxnLst/>
              <a:rect r="r" b="b" t="t" l="l"/>
              <a:pathLst>
                <a:path h="736070" w="1522896">
                  <a:moveTo>
                    <a:pt x="56472" y="0"/>
                  </a:moveTo>
                  <a:lnTo>
                    <a:pt x="1466424" y="0"/>
                  </a:lnTo>
                  <a:cubicBezTo>
                    <a:pt x="1497612" y="0"/>
                    <a:pt x="1522896" y="25283"/>
                    <a:pt x="1522896" y="56472"/>
                  </a:cubicBezTo>
                  <a:lnTo>
                    <a:pt x="1522896" y="679598"/>
                  </a:lnTo>
                  <a:cubicBezTo>
                    <a:pt x="1522896" y="694575"/>
                    <a:pt x="1516946" y="708939"/>
                    <a:pt x="1506355" y="719529"/>
                  </a:cubicBezTo>
                  <a:cubicBezTo>
                    <a:pt x="1495765" y="730120"/>
                    <a:pt x="1481401" y="736070"/>
                    <a:pt x="1466424" y="736070"/>
                  </a:cubicBezTo>
                  <a:lnTo>
                    <a:pt x="56472" y="736070"/>
                  </a:lnTo>
                  <a:cubicBezTo>
                    <a:pt x="25283" y="736070"/>
                    <a:pt x="0" y="710786"/>
                    <a:pt x="0" y="679598"/>
                  </a:cubicBezTo>
                  <a:lnTo>
                    <a:pt x="0" y="56472"/>
                  </a:lnTo>
                  <a:cubicBezTo>
                    <a:pt x="0" y="25283"/>
                    <a:pt x="25283" y="0"/>
                    <a:pt x="56472" y="0"/>
                  </a:cubicBezTo>
                  <a:close/>
                </a:path>
              </a:pathLst>
            </a:custGeom>
            <a:solidFill>
              <a:srgbClr val="F5F1EE">
                <a:alpha val="42745"/>
              </a:srgbClr>
            </a:solidFill>
            <a:ln w="190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22896" cy="774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80002" y="6211216"/>
            <a:ext cx="6991751" cy="3379362"/>
            <a:chOff x="0" y="0"/>
            <a:chExt cx="1522896" cy="7360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2896" cy="736070"/>
            </a:xfrm>
            <a:custGeom>
              <a:avLst/>
              <a:gdLst/>
              <a:ahLst/>
              <a:cxnLst/>
              <a:rect r="r" b="b" t="t" l="l"/>
              <a:pathLst>
                <a:path h="736070" w="1522896">
                  <a:moveTo>
                    <a:pt x="56472" y="0"/>
                  </a:moveTo>
                  <a:lnTo>
                    <a:pt x="1466424" y="0"/>
                  </a:lnTo>
                  <a:cubicBezTo>
                    <a:pt x="1497612" y="0"/>
                    <a:pt x="1522896" y="25283"/>
                    <a:pt x="1522896" y="56472"/>
                  </a:cubicBezTo>
                  <a:lnTo>
                    <a:pt x="1522896" y="679598"/>
                  </a:lnTo>
                  <a:cubicBezTo>
                    <a:pt x="1522896" y="694575"/>
                    <a:pt x="1516946" y="708939"/>
                    <a:pt x="1506355" y="719529"/>
                  </a:cubicBezTo>
                  <a:cubicBezTo>
                    <a:pt x="1495765" y="730120"/>
                    <a:pt x="1481401" y="736070"/>
                    <a:pt x="1466424" y="736070"/>
                  </a:cubicBezTo>
                  <a:lnTo>
                    <a:pt x="56472" y="736070"/>
                  </a:lnTo>
                  <a:cubicBezTo>
                    <a:pt x="25283" y="736070"/>
                    <a:pt x="0" y="710786"/>
                    <a:pt x="0" y="679598"/>
                  </a:cubicBezTo>
                  <a:lnTo>
                    <a:pt x="0" y="56472"/>
                  </a:lnTo>
                  <a:cubicBezTo>
                    <a:pt x="0" y="25283"/>
                    <a:pt x="25283" y="0"/>
                    <a:pt x="56472" y="0"/>
                  </a:cubicBezTo>
                  <a:close/>
                </a:path>
              </a:pathLst>
            </a:custGeom>
            <a:solidFill>
              <a:srgbClr val="F5F1EE">
                <a:alpha val="42745"/>
              </a:srgbClr>
            </a:solidFill>
            <a:ln w="190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22896" cy="774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344729" y="3817221"/>
            <a:ext cx="2062297" cy="1752952"/>
          </a:xfrm>
          <a:custGeom>
            <a:avLst/>
            <a:gdLst/>
            <a:ahLst/>
            <a:cxnLst/>
            <a:rect r="r" b="b" t="t" l="l"/>
            <a:pathLst>
              <a:path h="1752952" w="2062297">
                <a:moveTo>
                  <a:pt x="0" y="0"/>
                </a:moveTo>
                <a:lnTo>
                  <a:pt x="2062296" y="0"/>
                </a:lnTo>
                <a:lnTo>
                  <a:pt x="2062296" y="1752952"/>
                </a:lnTo>
                <a:lnTo>
                  <a:pt x="0" y="17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952362" y="7873523"/>
            <a:ext cx="1071173" cy="1487740"/>
          </a:xfrm>
          <a:custGeom>
            <a:avLst/>
            <a:gdLst/>
            <a:ahLst/>
            <a:cxnLst/>
            <a:rect r="r" b="b" t="t" l="l"/>
            <a:pathLst>
              <a:path h="1487740" w="1071173">
                <a:moveTo>
                  <a:pt x="0" y="0"/>
                </a:moveTo>
                <a:lnTo>
                  <a:pt x="1071172" y="0"/>
                </a:lnTo>
                <a:lnTo>
                  <a:pt x="1071172" y="1487740"/>
                </a:lnTo>
                <a:lnTo>
                  <a:pt x="0" y="1487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598799" y="7563957"/>
            <a:ext cx="1594833" cy="1562937"/>
          </a:xfrm>
          <a:custGeom>
            <a:avLst/>
            <a:gdLst/>
            <a:ahLst/>
            <a:cxnLst/>
            <a:rect r="r" b="b" t="t" l="l"/>
            <a:pathLst>
              <a:path h="1562937" w="1594833">
                <a:moveTo>
                  <a:pt x="0" y="0"/>
                </a:moveTo>
                <a:lnTo>
                  <a:pt x="1594833" y="0"/>
                </a:lnTo>
                <a:lnTo>
                  <a:pt x="1594833" y="1562937"/>
                </a:lnTo>
                <a:lnTo>
                  <a:pt x="0" y="15629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65474" y="3041841"/>
            <a:ext cx="6044949" cy="60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8" spc="1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68717" y="3105784"/>
            <a:ext cx="5641705" cy="72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211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evolución </a:t>
            </a:r>
            <a:r>
              <a:rPr lang="en-US" b="true" sz="211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metodológica de Cascada a Incremental sin desfasar las entregas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82560" y="547112"/>
            <a:ext cx="10322879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spc="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OBSTÁCULOS PRESENTADOS DURANTE EL DESARROLLO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5474" y="6584302"/>
            <a:ext cx="6044949" cy="60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8" spc="1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68717" y="6656641"/>
            <a:ext cx="5472139" cy="1098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211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</a:t>
            </a:r>
            <a:r>
              <a:rPr lang="en-US" b="true" sz="211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estabilidad de la conectividad en Firebase para que las alertas push llegaran sin latencia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3968" y="3039401"/>
            <a:ext cx="6144495" cy="61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8"/>
              </a:lnSpc>
            </a:pPr>
            <a:r>
              <a:rPr lang="en-US" sz="3627" spc="1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97397" y="3096259"/>
            <a:ext cx="5390869" cy="37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sz="215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accesibi</a:t>
            </a:r>
            <a:r>
              <a:rPr lang="en-US" b="true" sz="215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lidad UI/UX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23968" y="6581863"/>
            <a:ext cx="6144495" cy="61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8"/>
              </a:lnSpc>
            </a:pPr>
            <a:r>
              <a:rPr lang="en-US" sz="3627" spc="1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72437" y="6647116"/>
            <a:ext cx="5596026" cy="75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sz="215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</a:t>
            </a:r>
            <a:r>
              <a:rPr lang="en-US" b="true" sz="215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integración del comparador de precios y la IA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6314" y="3011999"/>
            <a:ext cx="16415372" cy="6121166"/>
            <a:chOff x="0" y="0"/>
            <a:chExt cx="1688810" cy="6297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8810" cy="629744"/>
            </a:xfrm>
            <a:custGeom>
              <a:avLst/>
              <a:gdLst/>
              <a:ahLst/>
              <a:cxnLst/>
              <a:rect r="r" b="b" t="t" l="l"/>
              <a:pathLst>
                <a:path h="629744" w="1688810">
                  <a:moveTo>
                    <a:pt x="23581" y="0"/>
                  </a:moveTo>
                  <a:lnTo>
                    <a:pt x="1665229" y="0"/>
                  </a:lnTo>
                  <a:cubicBezTo>
                    <a:pt x="1671483" y="0"/>
                    <a:pt x="1677481" y="2484"/>
                    <a:pt x="1681903" y="6907"/>
                  </a:cubicBezTo>
                  <a:cubicBezTo>
                    <a:pt x="1686326" y="11329"/>
                    <a:pt x="1688810" y="17327"/>
                    <a:pt x="1688810" y="23581"/>
                  </a:cubicBezTo>
                  <a:lnTo>
                    <a:pt x="1688810" y="606163"/>
                  </a:lnTo>
                  <a:cubicBezTo>
                    <a:pt x="1688810" y="612417"/>
                    <a:pt x="1686326" y="618415"/>
                    <a:pt x="1681903" y="622838"/>
                  </a:cubicBezTo>
                  <a:cubicBezTo>
                    <a:pt x="1677481" y="627260"/>
                    <a:pt x="1671483" y="629744"/>
                    <a:pt x="1665229" y="629744"/>
                  </a:cubicBezTo>
                  <a:lnTo>
                    <a:pt x="23581" y="629744"/>
                  </a:lnTo>
                  <a:cubicBezTo>
                    <a:pt x="17327" y="629744"/>
                    <a:pt x="11329" y="627260"/>
                    <a:pt x="6907" y="622838"/>
                  </a:cubicBezTo>
                  <a:cubicBezTo>
                    <a:pt x="2484" y="618415"/>
                    <a:pt x="0" y="612417"/>
                    <a:pt x="0" y="606163"/>
                  </a:cubicBezTo>
                  <a:lnTo>
                    <a:pt x="0" y="23581"/>
                  </a:lnTo>
                  <a:cubicBezTo>
                    <a:pt x="0" y="17327"/>
                    <a:pt x="2484" y="11329"/>
                    <a:pt x="6907" y="6907"/>
                  </a:cubicBezTo>
                  <a:cubicBezTo>
                    <a:pt x="11329" y="2484"/>
                    <a:pt x="17327" y="0"/>
                    <a:pt x="2358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4086" r="0" b="-8408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4924593" y="573636"/>
            <a:ext cx="8438813" cy="207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1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PREGUNTAS DE LA COMISIÓN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07534" y="-1984272"/>
            <a:ext cx="14255544" cy="14255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9E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696304"/>
            <a:ext cx="13290130" cy="24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842311" y="3657053"/>
            <a:ext cx="9841076" cy="8229600"/>
          </a:xfrm>
          <a:custGeom>
            <a:avLst/>
            <a:gdLst/>
            <a:ahLst/>
            <a:cxnLst/>
            <a:rect r="r" b="b" t="t" l="l"/>
            <a:pathLst>
              <a:path h="8229600" w="9841076">
                <a:moveTo>
                  <a:pt x="0" y="0"/>
                </a:moveTo>
                <a:lnTo>
                  <a:pt x="9841076" y="0"/>
                </a:lnTo>
                <a:lnTo>
                  <a:pt x="98410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09567" y="2726165"/>
            <a:ext cx="1642519" cy="1396141"/>
          </a:xfrm>
          <a:custGeom>
            <a:avLst/>
            <a:gdLst/>
            <a:ahLst/>
            <a:cxnLst/>
            <a:rect r="r" b="b" t="t" l="l"/>
            <a:pathLst>
              <a:path h="1396141" w="1642519">
                <a:moveTo>
                  <a:pt x="0" y="0"/>
                </a:moveTo>
                <a:lnTo>
                  <a:pt x="1642519" y="0"/>
                </a:lnTo>
                <a:lnTo>
                  <a:pt x="1642519" y="1396141"/>
                </a:lnTo>
                <a:lnTo>
                  <a:pt x="0" y="139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25091" y="2511512"/>
            <a:ext cx="2521135" cy="2291082"/>
          </a:xfrm>
          <a:custGeom>
            <a:avLst/>
            <a:gdLst/>
            <a:ahLst/>
            <a:cxnLst/>
            <a:rect r="r" b="b" t="t" l="l"/>
            <a:pathLst>
              <a:path h="2291082" w="2521135">
                <a:moveTo>
                  <a:pt x="0" y="0"/>
                </a:moveTo>
                <a:lnTo>
                  <a:pt x="2521136" y="0"/>
                </a:lnTo>
                <a:lnTo>
                  <a:pt x="2521136" y="2291082"/>
                </a:lnTo>
                <a:lnTo>
                  <a:pt x="0" y="2291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799539"/>
            <a:ext cx="13290130" cy="246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</a:t>
            </a:r>
            <a:r>
              <a:rPr lang="en-US" sz="1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DAHNWJ6gE1I</dc:identifier>
  <dcterms:modified xsi:type="dcterms:W3CDTF">2011-08-01T06:04:30Z</dcterms:modified>
  <cp:revision>1</cp:revision>
  <dc:title>PPT FINAL G-PIM</dc:title>
</cp:coreProperties>
</file>