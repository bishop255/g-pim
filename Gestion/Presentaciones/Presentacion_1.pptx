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R0Qp5Yok69fyaIsQeLzCG8RGk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6c70024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6c70024b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67f2e0bf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67f2e0bf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67f2e0bfa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67f2e0bf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3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3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13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14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14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14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14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1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5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6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6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7"/>
          <p:cNvSpPr txBox="1"/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8" name="Google Shape;48;p17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49" name="Google Shape;49;p17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" name="Google Shape;51;p17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2" name="Google Shape;52;p17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" name="Google Shape;53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4" name="Google Shape;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8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9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68" name="Google Shape;68;p19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19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71" name="Google Shape;71;p19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" name="Google Shape;72;p1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3" name="Google Shape;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0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21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83" name="Google Shape;8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" name="Google Shape;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6803750" y="2601400"/>
            <a:ext cx="44898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s-CL"/>
              <a:t>Gestor predictivo de insumos </a:t>
            </a:r>
            <a:r>
              <a:rPr lang="es-CL"/>
              <a:t>médicos</a:t>
            </a:r>
            <a:r>
              <a:rPr lang="es-CL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CL"/>
              <a:t>“G-PIM”</a:t>
            </a:r>
            <a:br>
              <a:rPr lang="es-CL"/>
            </a:b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7740235" y="4207807"/>
            <a:ext cx="435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2859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/>
              <a:t>“G-PIM”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8980400" y="5024200"/>
            <a:ext cx="24894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lt1"/>
                </a:solidFill>
              </a:rPr>
              <a:t>I</a:t>
            </a:r>
            <a:r>
              <a:rPr b="1" lang="es-CL" sz="1700">
                <a:solidFill>
                  <a:schemeClr val="lt1"/>
                </a:solidFill>
              </a:rPr>
              <a:t>ntegrantes: 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s-CL" sz="1700">
                <a:solidFill>
                  <a:schemeClr val="lt1"/>
                </a:solidFill>
              </a:rPr>
              <a:t>Andrés Moreno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s-CL" sz="1700">
                <a:solidFill>
                  <a:schemeClr val="lt1"/>
                </a:solidFill>
              </a:rPr>
              <a:t>Nicolas Moraga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s-CL" sz="1700">
                <a:solidFill>
                  <a:schemeClr val="lt1"/>
                </a:solidFill>
              </a:rPr>
              <a:t>Andrés Figueroa</a:t>
            </a:r>
            <a:endParaRPr b="1"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Indice/agenda</a:t>
            </a:r>
            <a:endParaRPr/>
          </a:p>
        </p:txBody>
      </p:sp>
      <p:sp>
        <p:nvSpPr>
          <p:cNvPr id="98" name="Google Shape;98;p2"/>
          <p:cNvSpPr txBox="1"/>
          <p:nvPr>
            <p:ph idx="2" type="body"/>
          </p:nvPr>
        </p:nvSpPr>
        <p:spPr>
          <a:xfrm>
            <a:off x="654665" y="1777795"/>
            <a:ext cx="6555900" cy="3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1. Integrantes del grupo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2. Descripción del proyecto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3. Contexto del proyecto.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4. Metodología.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5. Descripción técnica de la solución.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6. Documentación</a:t>
            </a:r>
            <a:endParaRPr/>
          </a:p>
        </p:txBody>
      </p:sp>
      <p:pic>
        <p:nvPicPr>
          <p:cNvPr id="99" name="Google Shape;99;p2" title="Logotipo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2892" y="770925"/>
            <a:ext cx="4690535" cy="4690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7823775" y="2872100"/>
            <a:ext cx="37980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/>
              <a:t>DESCRIPCIÓN</a:t>
            </a:r>
            <a:r>
              <a:rPr lang="es-CL"/>
              <a:t> DEL PROYECTO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654677" y="551050"/>
            <a:ext cx="9610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G-PIM: Gestor Predictivo de Insumos Médicos</a:t>
            </a:r>
            <a:endParaRPr/>
          </a:p>
        </p:txBody>
      </p:sp>
      <p:sp>
        <p:nvSpPr>
          <p:cNvPr id="110" name="Google Shape;110;p4"/>
          <p:cNvSpPr txBox="1"/>
          <p:nvPr>
            <p:ph idx="2" type="body"/>
          </p:nvPr>
        </p:nvSpPr>
        <p:spPr>
          <a:xfrm>
            <a:off x="770925" y="1767575"/>
            <a:ext cx="72591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3409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CL" sz="2831"/>
              <a:t>Concepto</a:t>
            </a:r>
            <a:endParaRPr b="1" sz="2831"/>
          </a:p>
          <a:p>
            <a:pPr indent="-32558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-CL" sz="2444"/>
              <a:t>App móvil para el control automático y predictivo de stock clínico domiciliario.</a:t>
            </a:r>
            <a:endParaRPr sz="2444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44"/>
          </a:p>
          <a:p>
            <a:pPr indent="-3409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CL" sz="2831"/>
              <a:t>Problema:</a:t>
            </a:r>
            <a:r>
              <a:rPr lang="es-CL" sz="2831"/>
              <a:t> </a:t>
            </a:r>
            <a:endParaRPr sz="2831"/>
          </a:p>
          <a:p>
            <a:pPr indent="-32558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-CL" sz="2444"/>
              <a:t>Quiebres de stock inesperados y alta carga mental en cuidadores.</a:t>
            </a:r>
            <a:endParaRPr sz="2444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44"/>
          </a:p>
          <a:p>
            <a:pPr indent="-3409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CL" sz="2831"/>
              <a:t>Solución:</a:t>
            </a:r>
            <a:r>
              <a:rPr lang="es-CL" sz="2831"/>
              <a:t> </a:t>
            </a:r>
            <a:endParaRPr sz="2831"/>
          </a:p>
          <a:p>
            <a:pPr indent="-32558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-CL" sz="2444"/>
              <a:t>Alertas preventivas basadas en algoritmos de consumo y comparador de precios.</a:t>
            </a:r>
            <a:endParaRPr sz="2444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29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29"/>
          </a:p>
          <a:p>
            <a:pPr indent="-139694" lvl="0" marL="228594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11" name="Google Shape;111;p4" title="ChatGPT Image 25 mar 2026, 20_16_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2275" y="1292625"/>
            <a:ext cx="3396475" cy="488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8339171" y="2698466"/>
            <a:ext cx="28059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/>
              <a:t>CONTEXTO DEL PROYECTO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 title="ChatGPT Image 25 mar 2026, 20_08_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457" y="1068850"/>
            <a:ext cx="3146867" cy="472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4926450" y="-347225"/>
            <a:ext cx="6630000" cy="7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Origen:</a:t>
            </a:r>
            <a:r>
              <a:rPr lang="es-CL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s-CL" sz="1600">
                <a:solidFill>
                  <a:schemeClr val="dk1"/>
                </a:solidFill>
              </a:rPr>
              <a:t>Falta de comunicación en tiempo real entre el adulto mayor y su familiar responsable.</a:t>
            </a:r>
            <a:endParaRPr sz="16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Motivación:</a:t>
            </a:r>
            <a:r>
              <a:rPr lang="es-CL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600">
                <a:solidFill>
                  <a:schemeClr val="dk1"/>
                </a:solidFill>
              </a:rPr>
              <a:t>Necesidad de supervisar a distancia el stock de medicamentos críticos.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Dificultad:</a:t>
            </a:r>
            <a:r>
              <a:rPr lang="es-CL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600">
                <a:solidFill>
                  <a:schemeClr val="dk1"/>
                </a:solidFill>
              </a:rPr>
              <a:t>Riesgo de descontinuar tratamientos por olvidos o falta de stock físico.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Impacto:</a:t>
            </a:r>
            <a:r>
              <a:rPr lang="es-CL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600">
                <a:solidFill>
                  <a:schemeClr val="dk1"/>
                </a:solidFill>
              </a:rPr>
              <a:t>Estrés (carga mental) en el cuidador y sobrecostos por compras urgentes.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Público:</a:t>
            </a:r>
            <a:r>
              <a:rPr lang="es-CL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600">
                <a:solidFill>
                  <a:schemeClr val="dk1"/>
                </a:solidFill>
              </a:rPr>
              <a:t>Hijos/cuidadores y adultos mayores.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7921425" y="2752725"/>
            <a:ext cx="38196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594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CL"/>
              <a:t>METODOLOGÍA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2387275" y="405850"/>
            <a:ext cx="9040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MODELO DE METODOLOGÍA: CASCADA</a:t>
            </a:r>
            <a:endParaRPr/>
          </a:p>
        </p:txBody>
      </p:sp>
      <p:sp>
        <p:nvSpPr>
          <p:cNvPr id="133" name="Google Shape;133;p8"/>
          <p:cNvSpPr txBox="1"/>
          <p:nvPr>
            <p:ph idx="2" type="body"/>
          </p:nvPr>
        </p:nvSpPr>
        <p:spPr>
          <a:xfrm>
            <a:off x="1302125" y="1497025"/>
            <a:ext cx="5946600" cy="4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s-CL" sz="1900"/>
              <a:t>Enfoque:</a:t>
            </a:r>
            <a:r>
              <a:rPr lang="es-CL" sz="1900"/>
              <a:t> </a:t>
            </a:r>
            <a:endParaRPr sz="1900"/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CL" sz="1600"/>
              <a:t>Desarrollo lineal y secuencial dividido en etapas cerradas.</a:t>
            </a:r>
            <a:endParaRPr sz="16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CL" sz="1900"/>
              <a:t>Fase 1 (Definición):</a:t>
            </a:r>
            <a:r>
              <a:rPr lang="es-CL" sz="1800"/>
              <a:t> </a:t>
            </a:r>
            <a:endParaRPr sz="1800"/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CL" sz="1600"/>
              <a:t>Levantamiento de requisitos, análisis de casos de uso y diseño de arquitectura.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CL" sz="1900"/>
              <a:t>Fase 2 (Diseño y Ejecución): </a:t>
            </a:r>
            <a:endParaRPr sz="1800"/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CL" sz="1600"/>
              <a:t>Creación de prototipos UI/UX en Figma seguidos por el desarrollo de módulos de inventario y algoritmos.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CL" sz="1900"/>
              <a:t>Fase 3 (Verificación):</a:t>
            </a:r>
            <a:endParaRPr sz="1800"/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CL" sz="1600"/>
              <a:t>Pruebas integrales de QA, corrección de errores y validación del flujo completo.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CL" sz="1900"/>
              <a:t>Cierre:</a:t>
            </a:r>
            <a:endParaRPr sz="1800"/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CL" sz="1600"/>
              <a:t>Entrega final de documentación, manuales de usuario y defensa del proyecto.</a:t>
            </a:r>
            <a:endParaRPr sz="18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6025" y="1394475"/>
            <a:ext cx="4671026" cy="46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7736927" y="2665925"/>
            <a:ext cx="38745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/>
              <a:t>DESCRIPCIÓN</a:t>
            </a:r>
            <a:r>
              <a:rPr lang="es-CL"/>
              <a:t> </a:t>
            </a:r>
            <a:r>
              <a:rPr lang="es-CL"/>
              <a:t>TÉCNICA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6c70024bf_0_0"/>
          <p:cNvSpPr txBox="1"/>
          <p:nvPr>
            <p:ph idx="1" type="body"/>
          </p:nvPr>
        </p:nvSpPr>
        <p:spPr>
          <a:xfrm>
            <a:off x="1279790" y="85450"/>
            <a:ext cx="9632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3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45" name="Google Shape;145;g396c70024bf_0_0" title="Smarphone (29.7 x 21 cm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67f2e0bfa_0_16"/>
          <p:cNvSpPr txBox="1"/>
          <p:nvPr>
            <p:ph type="title"/>
          </p:nvPr>
        </p:nvSpPr>
        <p:spPr>
          <a:xfrm>
            <a:off x="7812875" y="2734525"/>
            <a:ext cx="41238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/>
              <a:t>DOCUMENTACIÓN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67f2e0bfa_0_11"/>
          <p:cNvSpPr txBox="1"/>
          <p:nvPr/>
        </p:nvSpPr>
        <p:spPr>
          <a:xfrm>
            <a:off x="6684375" y="1694975"/>
            <a:ext cx="4752900" cy="3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Código Fuente:</a:t>
            </a:r>
            <a:r>
              <a:rPr lang="es-CL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-CL" sz="1500">
                <a:solidFill>
                  <a:schemeClr val="dk1"/>
                </a:solidFill>
              </a:rPr>
              <a:t>Repositorio en GitHub con la lógica en JavaScript y Firebase.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Plan de QA:</a:t>
            </a:r>
            <a:r>
              <a:rPr lang="es-CL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-CL" sz="1500">
                <a:solidFill>
                  <a:schemeClr val="dk1"/>
                </a:solidFill>
              </a:rPr>
              <a:t>Documento de pruebas unitarias y de usuario para validar el sistema.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CL" sz="1800">
                <a:solidFill>
                  <a:schemeClr val="dk1"/>
                </a:solidFill>
              </a:rPr>
              <a:t>Manuales:</a:t>
            </a:r>
            <a:r>
              <a:rPr lang="es-CL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s-CL" sz="1500">
                <a:solidFill>
                  <a:schemeClr val="dk1"/>
                </a:solidFill>
              </a:rPr>
              <a:t>Guía de instalación y uso para el familiar y el adulto mayor.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6" name="Google Shape;156;g3967f2e0bfa_0_11"/>
          <p:cNvSpPr txBox="1"/>
          <p:nvPr>
            <p:ph idx="1" type="body"/>
          </p:nvPr>
        </p:nvSpPr>
        <p:spPr>
          <a:xfrm>
            <a:off x="2452350" y="616150"/>
            <a:ext cx="7287300" cy="46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394" lvl="0" marL="22859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CL"/>
              <a:t>DOCUMENTACIÓN</a:t>
            </a:r>
            <a:r>
              <a:rPr lang="es-CL"/>
              <a:t> Y EVIDENCIAS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67f2e0bfa_0_11"/>
          <p:cNvSpPr txBox="1"/>
          <p:nvPr>
            <p:ph idx="2" type="body"/>
          </p:nvPr>
        </p:nvSpPr>
        <p:spPr>
          <a:xfrm>
            <a:off x="911525" y="1792650"/>
            <a:ext cx="4405500" cy="409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CL" sz="7200"/>
              <a:t>Requerimientos:</a:t>
            </a:r>
            <a:r>
              <a:rPr lang="es-CL" sz="7200"/>
              <a:t> </a:t>
            </a:r>
            <a:endParaRPr sz="72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-CL" sz="6000"/>
              <a:t>Especificación detallada de funciones y casos de uso de la app.</a:t>
            </a:r>
            <a:endParaRPr sz="60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CL" sz="7200"/>
              <a:t>Diseño UX/UI:</a:t>
            </a:r>
            <a:r>
              <a:rPr lang="es-CL" sz="7200"/>
              <a:t> </a:t>
            </a:r>
            <a:endParaRPr sz="72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-CL" sz="6000"/>
              <a:t>Prototipo de alta fidelidad en Figma con enfoque en accesibilidad.</a:t>
            </a:r>
            <a:endParaRPr sz="60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CL" sz="7200"/>
              <a:t>Arquitectura:</a:t>
            </a:r>
            <a:r>
              <a:rPr lang="es-CL" sz="7200"/>
              <a:t> </a:t>
            </a:r>
            <a:endParaRPr sz="72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-CL" sz="6000"/>
              <a:t>Diagrama del modelo de datos NoSQL y esquema del patrón MVVM.</a:t>
            </a:r>
            <a:endParaRPr sz="60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2024-03-07T18:55:37Z</dcterms:created>
  <dc:creator>Daniela Osorio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