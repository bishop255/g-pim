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B0502030000000004"/>
      <p:regular r:id="rId24"/>
    </p:embeddedFont>
    <p:embeddedFont>
      <p:font typeface="Glacial Indifference Bold" charset="1" panose="00000800000000000000"/>
      <p:regular r:id="rId25"/>
    </p:embeddedFont>
    <p:embeddedFont>
      <p:font typeface="Glacial Indifference" charset="1" panose="00000000000000000000"/>
      <p:regular r:id="rId26"/>
    </p:embeddedFont>
    <p:embeddedFont>
      <p:font typeface="Inter Bold" charset="1" panose="020B0802030000000004"/>
      <p:regular r:id="rId27"/>
    </p:embeddedFont>
    <p:embeddedFont>
      <p:font typeface="Inter Bold Italics" charset="1" panose="020B080203000000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87881" y="7171233"/>
            <a:ext cx="0" cy="2087067"/>
          </a:xfrm>
          <a:prstGeom prst="line">
            <a:avLst/>
          </a:prstGeom>
          <a:ln cap="flat" w="19050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436047" y="5324006"/>
            <a:ext cx="5138078" cy="1001972"/>
            <a:chOff x="0" y="0"/>
            <a:chExt cx="1353239" cy="26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3239" cy="263894"/>
            </a:xfrm>
            <a:custGeom>
              <a:avLst/>
              <a:gdLst/>
              <a:ahLst/>
              <a:cxnLst/>
              <a:rect r="r" b="b" t="t" l="l"/>
              <a:pathLst>
                <a:path h="263894" w="1353239">
                  <a:moveTo>
                    <a:pt x="76845" y="0"/>
                  </a:moveTo>
                  <a:lnTo>
                    <a:pt x="1276393" y="0"/>
                  </a:lnTo>
                  <a:cubicBezTo>
                    <a:pt x="1296774" y="0"/>
                    <a:pt x="1316320" y="8096"/>
                    <a:pt x="1330731" y="22508"/>
                  </a:cubicBezTo>
                  <a:cubicBezTo>
                    <a:pt x="1345143" y="36919"/>
                    <a:pt x="1353239" y="56465"/>
                    <a:pt x="1353239" y="76845"/>
                  </a:cubicBezTo>
                  <a:lnTo>
                    <a:pt x="1353239" y="187048"/>
                  </a:lnTo>
                  <a:cubicBezTo>
                    <a:pt x="1353239" y="229489"/>
                    <a:pt x="1318834" y="263894"/>
                    <a:pt x="1276393" y="263894"/>
                  </a:cubicBezTo>
                  <a:lnTo>
                    <a:pt x="76845" y="263894"/>
                  </a:lnTo>
                  <a:cubicBezTo>
                    <a:pt x="34405" y="263894"/>
                    <a:pt x="0" y="229489"/>
                    <a:pt x="0" y="187048"/>
                  </a:cubicBezTo>
                  <a:lnTo>
                    <a:pt x="0" y="76845"/>
                  </a:lnTo>
                  <a:cubicBezTo>
                    <a:pt x="0" y="34405"/>
                    <a:pt x="34405" y="0"/>
                    <a:pt x="76845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353239" cy="244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  <a:r>
                <a:rPr lang="en-US" sz="2599" spc="506">
                  <a:solidFill>
                    <a:srgbClr val="403E3E"/>
                  </a:solidFill>
                  <a:latin typeface="Inter"/>
                  <a:ea typeface="Inter"/>
                  <a:cs typeface="Inter"/>
                  <a:sym typeface="Inter"/>
                </a:rPr>
                <a:t>TALLER DE PROGRAMACIÓN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3742610"/>
            <a:ext cx="7607339" cy="3645285"/>
          </a:xfrm>
          <a:custGeom>
            <a:avLst/>
            <a:gdLst/>
            <a:ahLst/>
            <a:cxnLst/>
            <a:rect r="r" b="b" t="t" l="l"/>
            <a:pathLst>
              <a:path h="3645285" w="7607339">
                <a:moveTo>
                  <a:pt x="0" y="0"/>
                </a:moveTo>
                <a:lnTo>
                  <a:pt x="7607339" y="0"/>
                </a:lnTo>
                <a:lnTo>
                  <a:pt x="7607339" y="3645285"/>
                </a:lnTo>
                <a:lnTo>
                  <a:pt x="0" y="3645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303" r="0" b="-5438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36047" y="2209023"/>
            <a:ext cx="8873162" cy="11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35"/>
              </a:lnSpc>
              <a:spcBef>
                <a:spcPct val="0"/>
              </a:spcBef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6047" y="3368419"/>
            <a:ext cx="6450072" cy="11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35"/>
              </a:lnSpc>
              <a:spcBef>
                <a:spcPct val="0"/>
              </a:spcBef>
            </a:pPr>
            <a:r>
              <a:rPr lang="en-US" sz="9669">
                <a:solidFill>
                  <a:srgbClr val="403E3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GRUPO N°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0887" y="7397877"/>
            <a:ext cx="4915072" cy="1860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b="true" sz="2699" spc="-16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  <a:p>
            <a:pPr algn="l" marL="518160" indent="-259080" lvl="1">
              <a:lnSpc>
                <a:spcPts val="4152"/>
              </a:lnSpc>
              <a:buFont typeface="Arial"/>
              <a:buChar char="•"/>
            </a:pPr>
            <a:r>
              <a:rPr lang="en-US" b="true" sz="240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ANDRÉS MORENO</a:t>
            </a:r>
          </a:p>
          <a:p>
            <a:pPr algn="l" marL="518160" indent="-259080" lvl="1">
              <a:lnSpc>
                <a:spcPts val="4152"/>
              </a:lnSpc>
              <a:buFont typeface="Arial"/>
              <a:buChar char="•"/>
            </a:pPr>
            <a:r>
              <a:rPr lang="en-US" b="true" sz="240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NICOLAS MORAGA</a:t>
            </a:r>
          </a:p>
          <a:p>
            <a:pPr algn="l" marL="518160" indent="-259080" lvl="1">
              <a:lnSpc>
                <a:spcPts val="4152"/>
              </a:lnSpc>
              <a:buFont typeface="Arial"/>
              <a:buChar char="•"/>
            </a:pPr>
            <a:r>
              <a:rPr lang="en-US" b="true" sz="240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ANDRÉS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60363" y="4265787"/>
            <a:ext cx="0" cy="6021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655990" y="4265787"/>
            <a:ext cx="0" cy="60212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126852" y="3235125"/>
            <a:ext cx="1267023" cy="126702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64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04004" y="3198177"/>
            <a:ext cx="1303971" cy="130397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64A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17273" y="7478014"/>
            <a:ext cx="1301308" cy="130130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5B51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0380" y="7423774"/>
            <a:ext cx="1309320" cy="130932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5B51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17273" y="5310178"/>
            <a:ext cx="1301308" cy="130130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E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04004" y="5310178"/>
            <a:ext cx="1303971" cy="130397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E2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475222" y="3558086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3" y="0"/>
                </a:lnTo>
                <a:lnTo>
                  <a:pt x="570283" y="621101"/>
                </a:lnTo>
                <a:lnTo>
                  <a:pt x="0" y="621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370848" y="3558086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4" y="0"/>
                </a:lnTo>
                <a:lnTo>
                  <a:pt x="570284" y="621101"/>
                </a:lnTo>
                <a:lnTo>
                  <a:pt x="0" y="621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494272" y="7818118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3" y="0"/>
                </a:lnTo>
                <a:lnTo>
                  <a:pt x="570283" y="621100"/>
                </a:lnTo>
                <a:lnTo>
                  <a:pt x="0" y="62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370848" y="7766674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4" y="0"/>
                </a:lnTo>
                <a:lnTo>
                  <a:pt x="570284" y="621101"/>
                </a:lnTo>
                <a:lnTo>
                  <a:pt x="0" y="621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865706" y="3689912"/>
            <a:ext cx="4857722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DESAFÍO PARA LAS FAMILIAS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765092" y="3508937"/>
            <a:ext cx="4329048" cy="7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GESTOR PREDICTIVO DE INSUMOS MÉDICOS (G-PIM)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65706" y="7949943"/>
            <a:ext cx="4549329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AUMENTA CARGA MENTAL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61333" y="7949943"/>
            <a:ext cx="4549329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COMPARADOR DE OFERTAS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65706" y="5834979"/>
            <a:ext cx="4020655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CONTROLES MANUALES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61333" y="5821918"/>
            <a:ext cx="4020655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APP MULTIPLATAFORMA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52578" y="1141912"/>
            <a:ext cx="8982843" cy="11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35"/>
              </a:lnSpc>
              <a:spcBef>
                <a:spcPct val="0"/>
              </a:spcBef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INTRODUCCIÓN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475222" y="5690093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3" y="0"/>
                </a:lnTo>
                <a:lnTo>
                  <a:pt x="570283" y="621100"/>
                </a:lnTo>
                <a:lnTo>
                  <a:pt x="0" y="62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370848" y="5650282"/>
            <a:ext cx="570283" cy="621100"/>
          </a:xfrm>
          <a:custGeom>
            <a:avLst/>
            <a:gdLst/>
            <a:ahLst/>
            <a:cxnLst/>
            <a:rect r="r" b="b" t="t" l="l"/>
            <a:pathLst>
              <a:path h="621100" w="570283">
                <a:moveTo>
                  <a:pt x="0" y="0"/>
                </a:moveTo>
                <a:lnTo>
                  <a:pt x="570284" y="0"/>
                </a:lnTo>
                <a:lnTo>
                  <a:pt x="570284" y="621100"/>
                </a:lnTo>
                <a:lnTo>
                  <a:pt x="0" y="62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68600" y="3258657"/>
            <a:ext cx="26985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362256" y="3258657"/>
            <a:ext cx="26790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568600" y="7485717"/>
            <a:ext cx="269858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9362256" y="7485717"/>
            <a:ext cx="26790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8267184" y="3243335"/>
            <a:ext cx="0" cy="11018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362256" y="3243335"/>
            <a:ext cx="0" cy="14308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8267184" y="6682470"/>
            <a:ext cx="0" cy="8175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9362256" y="6682470"/>
            <a:ext cx="0" cy="8175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002888" y="3822702"/>
            <a:ext cx="3506770" cy="3479527"/>
          </a:xfrm>
          <a:custGeom>
            <a:avLst/>
            <a:gdLst/>
            <a:ahLst/>
            <a:cxnLst/>
            <a:rect r="r" b="b" t="t" l="l"/>
            <a:pathLst>
              <a:path h="3479527" w="3506770">
                <a:moveTo>
                  <a:pt x="0" y="0"/>
                </a:moveTo>
                <a:lnTo>
                  <a:pt x="3506771" y="0"/>
                </a:lnTo>
                <a:lnTo>
                  <a:pt x="3506771" y="3479527"/>
                </a:lnTo>
                <a:lnTo>
                  <a:pt x="0" y="3479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21" t="-11093" r="-5511" b="-584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1984" y="1096770"/>
            <a:ext cx="17364031" cy="11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5"/>
              </a:lnSpc>
              <a:spcBef>
                <a:spcPct val="0"/>
              </a:spcBef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DESCRIPCIÓN DEL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05619" y="3059847"/>
            <a:ext cx="4020655" cy="4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945" spc="-182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SOLUCIÓN PROPUESTA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8646" y="2855060"/>
            <a:ext cx="4362144" cy="83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945" spc="-182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DESCRIPCIÓN DEL PROYECTO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05619" y="7321279"/>
            <a:ext cx="4020655" cy="4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945" spc="-182">
                <a:solidFill>
                  <a:srgbClr val="1C9EB0"/>
                </a:solidFill>
                <a:latin typeface="Inter Bold"/>
                <a:ea typeface="Inter Bold"/>
                <a:cs typeface="Inter Bold"/>
                <a:sym typeface="Inter Bold"/>
              </a:rPr>
              <a:t>OBJETIVO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0136" y="7076487"/>
            <a:ext cx="4020655" cy="83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945" spc="-182">
                <a:solidFill>
                  <a:srgbClr val="1C9EB0"/>
                </a:solidFill>
                <a:latin typeface="Inter Bold"/>
                <a:ea typeface="Inter Bold"/>
                <a:cs typeface="Inter Bold"/>
                <a:sym typeface="Inter Bold"/>
              </a:rPr>
              <a:t>PROBLEMATICA DETECTADA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05619" y="3711620"/>
            <a:ext cx="4416420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Registro de stock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Cálculo predictivo de consumo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Alertas preventivas</a:t>
            </a:r>
          </a:p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29391" y="3878178"/>
            <a:ext cx="402065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App orientada al control automatico de insumo médicos domiciliarios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05619" y="7933047"/>
            <a:ext cx="5520397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arrollar una 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lica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ón móvil mu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pla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forma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qu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per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ita automatiz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cálcu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y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ntr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umo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tos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insumos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é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7073" y="8104505"/>
            <a:ext cx="3104146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Quiebre de stock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Olvido de dosis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21219" y="8104505"/>
            <a:ext cx="3404915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Falta de comunicación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Estrés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3454" y="8933815"/>
            <a:ext cx="3729038" cy="32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Compras de emergencia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05619" y="4693201"/>
            <a:ext cx="441642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Comparador de precios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Sistemas de emergencia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Notificaciones entre usuarios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590227" y="0"/>
            <a:ext cx="0" cy="92583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635174" y="2443199"/>
            <a:ext cx="1910106" cy="19101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86B6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35174" y="4895163"/>
            <a:ext cx="1910106" cy="19101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CCE2A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35174" y="7348194"/>
            <a:ext cx="1910106" cy="19101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021905" y="7774707"/>
            <a:ext cx="1099043" cy="1057080"/>
          </a:xfrm>
          <a:custGeom>
            <a:avLst/>
            <a:gdLst/>
            <a:ahLst/>
            <a:cxnLst/>
            <a:rect r="r" b="b" t="t" l="l"/>
            <a:pathLst>
              <a:path h="1057080" w="1099043">
                <a:moveTo>
                  <a:pt x="0" y="0"/>
                </a:moveTo>
                <a:lnTo>
                  <a:pt x="1099043" y="0"/>
                </a:lnTo>
                <a:lnTo>
                  <a:pt x="1099043" y="1057080"/>
                </a:lnTo>
                <a:lnTo>
                  <a:pt x="0" y="1057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90763" y="3072103"/>
            <a:ext cx="598929" cy="652299"/>
          </a:xfrm>
          <a:custGeom>
            <a:avLst/>
            <a:gdLst/>
            <a:ahLst/>
            <a:cxnLst/>
            <a:rect r="r" b="b" t="t" l="l"/>
            <a:pathLst>
              <a:path h="652299" w="598929">
                <a:moveTo>
                  <a:pt x="0" y="0"/>
                </a:moveTo>
                <a:lnTo>
                  <a:pt x="598928" y="0"/>
                </a:lnTo>
                <a:lnTo>
                  <a:pt x="598928" y="652299"/>
                </a:lnTo>
                <a:lnTo>
                  <a:pt x="0" y="6522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15076" y="2516566"/>
            <a:ext cx="3106940" cy="3687762"/>
          </a:xfrm>
          <a:custGeom>
            <a:avLst/>
            <a:gdLst/>
            <a:ahLst/>
            <a:cxnLst/>
            <a:rect r="r" b="b" t="t" l="l"/>
            <a:pathLst>
              <a:path h="3687762" w="3106940">
                <a:moveTo>
                  <a:pt x="0" y="0"/>
                </a:moveTo>
                <a:lnTo>
                  <a:pt x="3106940" y="0"/>
                </a:lnTo>
                <a:lnTo>
                  <a:pt x="3106940" y="3687762"/>
                </a:lnTo>
                <a:lnTo>
                  <a:pt x="0" y="3687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53893" y="6149680"/>
            <a:ext cx="3193157" cy="2853884"/>
          </a:xfrm>
          <a:custGeom>
            <a:avLst/>
            <a:gdLst/>
            <a:ahLst/>
            <a:cxnLst/>
            <a:rect r="r" b="b" t="t" l="l"/>
            <a:pathLst>
              <a:path h="2853884" w="3193157">
                <a:moveTo>
                  <a:pt x="0" y="0"/>
                </a:moveTo>
                <a:lnTo>
                  <a:pt x="3193157" y="0"/>
                </a:lnTo>
                <a:lnTo>
                  <a:pt x="3193157" y="2853884"/>
                </a:lnTo>
                <a:lnTo>
                  <a:pt x="0" y="28538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148208" y="5351606"/>
            <a:ext cx="995792" cy="998287"/>
          </a:xfrm>
          <a:custGeom>
            <a:avLst/>
            <a:gdLst/>
            <a:ahLst/>
            <a:cxnLst/>
            <a:rect r="r" b="b" t="t" l="l"/>
            <a:pathLst>
              <a:path h="998287" w="995792">
                <a:moveTo>
                  <a:pt x="0" y="0"/>
                </a:moveTo>
                <a:lnTo>
                  <a:pt x="995792" y="0"/>
                </a:lnTo>
                <a:lnTo>
                  <a:pt x="995792" y="998287"/>
                </a:lnTo>
                <a:lnTo>
                  <a:pt x="0" y="998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07280" y="2948034"/>
            <a:ext cx="6130187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Organizar etapas académicas.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Definir requerimientos desde el inicio.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Mantiene planificación estructurada (según tiempos de entrega en el semestre).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07280" y="5652843"/>
            <a:ext cx="5917485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Módulos funcionales.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Facilidad de implementación gradual.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Permite realizar pruebas constantes para la detección temprana de errores.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07280" y="7982603"/>
            <a:ext cx="6729619" cy="158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Desarrollo progresivo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Validación constante de funcionalidades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Facilidad para la integración de nuevos módulos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Mejor adaptación a cambios</a:t>
            </a:r>
          </a:p>
          <a:p>
            <a:pPr algn="l" marL="496571" indent="-248285" lvl="1">
              <a:lnSpc>
                <a:spcPts val="2530"/>
              </a:lnSpc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Mayor control del avance del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2194" y="961372"/>
            <a:ext cx="7549711" cy="93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35"/>
              </a:lnSpc>
              <a:spcBef>
                <a:spcPct val="0"/>
              </a:spcBef>
            </a:pPr>
            <a:r>
              <a:rPr lang="en-US" b="true" sz="81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METODOLOGÍA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07280" y="2462249"/>
            <a:ext cx="6952020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METODOLOGÍA TRADICIONAL (CASCADA)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07280" y="4799179"/>
            <a:ext cx="5414565" cy="7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ADAPTACIÓN DE METODOLOGÍA  INCREMENTAL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07280" y="7501328"/>
            <a:ext cx="5414565" cy="3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  <a:r>
              <a:rPr lang="en-US" b="true" sz="2645" spc="-164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BENEFICIOS DE LA METODOLOGÍA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811751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9750" y="3854972"/>
            <a:ext cx="1910106" cy="19101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86B6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87746" y="3856698"/>
            <a:ext cx="1910106" cy="19101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CCE2A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85741" y="3854972"/>
            <a:ext cx="1910106" cy="19101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58051" y="3701055"/>
            <a:ext cx="901146" cy="901146"/>
          </a:xfrm>
          <a:custGeom>
            <a:avLst/>
            <a:gdLst/>
            <a:ahLst/>
            <a:cxnLst/>
            <a:rect r="r" b="b" t="t" l="l"/>
            <a:pathLst>
              <a:path h="901146" w="901146">
                <a:moveTo>
                  <a:pt x="0" y="0"/>
                </a:moveTo>
                <a:lnTo>
                  <a:pt x="901146" y="0"/>
                </a:lnTo>
                <a:lnTo>
                  <a:pt x="901146" y="901146"/>
                </a:lnTo>
                <a:lnTo>
                  <a:pt x="0" y="90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41227" y="4053700"/>
            <a:ext cx="1592360" cy="1486866"/>
          </a:xfrm>
          <a:custGeom>
            <a:avLst/>
            <a:gdLst/>
            <a:ahLst/>
            <a:cxnLst/>
            <a:rect r="r" b="b" t="t" l="l"/>
            <a:pathLst>
              <a:path h="1486866" w="1592360">
                <a:moveTo>
                  <a:pt x="0" y="0"/>
                </a:moveTo>
                <a:lnTo>
                  <a:pt x="1592360" y="0"/>
                </a:lnTo>
                <a:lnTo>
                  <a:pt x="1592360" y="1486866"/>
                </a:lnTo>
                <a:lnTo>
                  <a:pt x="0" y="1486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10528" y="4177476"/>
            <a:ext cx="1268551" cy="1268551"/>
          </a:xfrm>
          <a:custGeom>
            <a:avLst/>
            <a:gdLst/>
            <a:ahLst/>
            <a:cxnLst/>
            <a:rect r="r" b="b" t="t" l="l"/>
            <a:pathLst>
              <a:path h="1268551" w="1268551">
                <a:moveTo>
                  <a:pt x="0" y="0"/>
                </a:moveTo>
                <a:lnTo>
                  <a:pt x="1268551" y="0"/>
                </a:lnTo>
                <a:lnTo>
                  <a:pt x="1268551" y="1268550"/>
                </a:lnTo>
                <a:lnTo>
                  <a:pt x="0" y="1268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18362" y="4295675"/>
            <a:ext cx="1448873" cy="1028700"/>
          </a:xfrm>
          <a:custGeom>
            <a:avLst/>
            <a:gdLst/>
            <a:ahLst/>
            <a:cxnLst/>
            <a:rect r="r" b="b" t="t" l="l"/>
            <a:pathLst>
              <a:path h="1028700" w="1448873">
                <a:moveTo>
                  <a:pt x="0" y="0"/>
                </a:moveTo>
                <a:lnTo>
                  <a:pt x="1448874" y="0"/>
                </a:lnTo>
                <a:lnTo>
                  <a:pt x="144887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60263" y="7071729"/>
            <a:ext cx="367128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0"/>
              </a:lnSpc>
              <a:spcBef>
                <a:spcPct val="0"/>
              </a:spcBef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ncar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ej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de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datos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cone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x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 con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ireba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restore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07155" y="7071729"/>
            <a:ext cx="367128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0"/>
              </a:lnSpc>
              <a:spcBef>
                <a:spcPct val="0"/>
              </a:spcBef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espon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la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pant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rollada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4893" y="7052679"/>
            <a:ext cx="367128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30"/>
              </a:lnSpc>
              <a:spcBef>
                <a:spcPct val="0"/>
              </a:spcBef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estiona la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lógi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ca de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nego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 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nic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ación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re la in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z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la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ase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da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tos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3595" y="1381125"/>
            <a:ext cx="16520810" cy="109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5"/>
              </a:lnSpc>
              <a:spcBef>
                <a:spcPct val="0"/>
              </a:spcBef>
            </a:pPr>
            <a:r>
              <a:rPr lang="en-US" b="true" sz="94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ARQUITECTURA DEL SISTEMA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8051" y="6090654"/>
            <a:ext cx="3873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04045" y="6090654"/>
            <a:ext cx="38735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VIEW-MODEL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07393" y="6090654"/>
            <a:ext cx="447081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811751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9750" y="3854972"/>
            <a:ext cx="1910106" cy="191010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86B64A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115489" y="3842080"/>
            <a:ext cx="1910106" cy="19101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CCE2A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785741" y="3854972"/>
            <a:ext cx="1910106" cy="191010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5314" y="0"/>
                  </a:moveTo>
                  <a:lnTo>
                    <a:pt x="407486" y="0"/>
                  </a:lnTo>
                  <a:cubicBezTo>
                    <a:pt x="514982" y="0"/>
                    <a:pt x="618075" y="42703"/>
                    <a:pt x="694086" y="118714"/>
                  </a:cubicBezTo>
                  <a:cubicBezTo>
                    <a:pt x="770097" y="194725"/>
                    <a:pt x="812800" y="297818"/>
                    <a:pt x="812800" y="405314"/>
                  </a:cubicBezTo>
                  <a:lnTo>
                    <a:pt x="812800" y="407486"/>
                  </a:lnTo>
                  <a:cubicBezTo>
                    <a:pt x="812800" y="514982"/>
                    <a:pt x="770097" y="618075"/>
                    <a:pt x="694086" y="694086"/>
                  </a:cubicBezTo>
                  <a:cubicBezTo>
                    <a:pt x="618075" y="770097"/>
                    <a:pt x="514982" y="812800"/>
                    <a:pt x="407486" y="812800"/>
                  </a:cubicBezTo>
                  <a:lnTo>
                    <a:pt x="405314" y="812800"/>
                  </a:lnTo>
                  <a:cubicBezTo>
                    <a:pt x="297818" y="812800"/>
                    <a:pt x="194725" y="770097"/>
                    <a:pt x="118714" y="694086"/>
                  </a:cubicBezTo>
                  <a:cubicBezTo>
                    <a:pt x="42703" y="618075"/>
                    <a:pt x="0" y="514982"/>
                    <a:pt x="0" y="407486"/>
                  </a:cubicBezTo>
                  <a:lnTo>
                    <a:pt x="0" y="405314"/>
                  </a:lnTo>
                  <a:cubicBezTo>
                    <a:pt x="0" y="297818"/>
                    <a:pt x="42703" y="194725"/>
                    <a:pt x="118714" y="118714"/>
                  </a:cubicBezTo>
                  <a:cubicBezTo>
                    <a:pt x="194725" y="42703"/>
                    <a:pt x="297818" y="0"/>
                    <a:pt x="405314" y="0"/>
                  </a:cubicBezTo>
                  <a:close/>
                </a:path>
              </a:pathLst>
            </a:custGeom>
            <a:solidFill>
              <a:srgbClr val="FD5B5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8128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58051" y="3701055"/>
            <a:ext cx="901146" cy="901146"/>
          </a:xfrm>
          <a:custGeom>
            <a:avLst/>
            <a:gdLst/>
            <a:ahLst/>
            <a:cxnLst/>
            <a:rect r="r" b="b" t="t" l="l"/>
            <a:pathLst>
              <a:path h="901146" w="901146">
                <a:moveTo>
                  <a:pt x="0" y="0"/>
                </a:moveTo>
                <a:lnTo>
                  <a:pt x="901146" y="0"/>
                </a:lnTo>
                <a:lnTo>
                  <a:pt x="901146" y="901146"/>
                </a:lnTo>
                <a:lnTo>
                  <a:pt x="0" y="90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41990" y="4108938"/>
            <a:ext cx="1405626" cy="1405626"/>
          </a:xfrm>
          <a:custGeom>
            <a:avLst/>
            <a:gdLst/>
            <a:ahLst/>
            <a:cxnLst/>
            <a:rect r="r" b="b" t="t" l="l"/>
            <a:pathLst>
              <a:path h="1405626" w="1405626">
                <a:moveTo>
                  <a:pt x="0" y="0"/>
                </a:moveTo>
                <a:lnTo>
                  <a:pt x="1405626" y="0"/>
                </a:lnTo>
                <a:lnTo>
                  <a:pt x="1405626" y="1405626"/>
                </a:lnTo>
                <a:lnTo>
                  <a:pt x="0" y="14056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12491" y="4039083"/>
            <a:ext cx="1516101" cy="1516101"/>
          </a:xfrm>
          <a:custGeom>
            <a:avLst/>
            <a:gdLst/>
            <a:ahLst/>
            <a:cxnLst/>
            <a:rect r="r" b="b" t="t" l="l"/>
            <a:pathLst>
              <a:path h="1516101" w="1516101">
                <a:moveTo>
                  <a:pt x="0" y="0"/>
                </a:moveTo>
                <a:lnTo>
                  <a:pt x="1516101" y="0"/>
                </a:lnTo>
                <a:lnTo>
                  <a:pt x="1516101" y="1516101"/>
                </a:lnTo>
                <a:lnTo>
                  <a:pt x="0" y="1516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41227" y="4053700"/>
            <a:ext cx="1592360" cy="1486866"/>
          </a:xfrm>
          <a:custGeom>
            <a:avLst/>
            <a:gdLst/>
            <a:ahLst/>
            <a:cxnLst/>
            <a:rect r="r" b="b" t="t" l="l"/>
            <a:pathLst>
              <a:path h="1486866" w="1592360">
                <a:moveTo>
                  <a:pt x="0" y="0"/>
                </a:moveTo>
                <a:lnTo>
                  <a:pt x="1592360" y="0"/>
                </a:lnTo>
                <a:lnTo>
                  <a:pt x="1592360" y="1486866"/>
                </a:lnTo>
                <a:lnTo>
                  <a:pt x="0" y="1486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10266" y="7433679"/>
            <a:ext cx="3671288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Ja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cri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ES6</a:t>
            </a:r>
          </a:p>
          <a:p>
            <a:pPr algn="just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Typ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crip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5.9.3</a:t>
            </a:r>
          </a:p>
          <a:p>
            <a:pPr algn="just">
              <a:lnSpc>
                <a:spcPts val="253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53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051433" y="7210604"/>
            <a:ext cx="3671288" cy="185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tive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Ex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po Go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ire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SDK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Exp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Exp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ame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</a:p>
          <a:p>
            <a:pPr algn="l" marL="0" indent="0" lvl="0">
              <a:lnSpc>
                <a:spcPts val="2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466048" y="7119354"/>
            <a:ext cx="3671288" cy="189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Auth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ion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oud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bas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Mess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</a:p>
          <a:p>
            <a:pPr algn="l" marL="496571" indent="-248285" lvl="1">
              <a:lnSpc>
                <a:spcPts val="25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Exp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vel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op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uild</a:t>
            </a:r>
          </a:p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79612" y="1287314"/>
            <a:ext cx="16520810" cy="2091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5"/>
              </a:lnSpc>
              <a:spcBef>
                <a:spcPct val="0"/>
              </a:spcBef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9669" strike="noStrike" u="non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</a:t>
            </a:r>
            <a:r>
              <a:rPr lang="en-US" b="true" sz="9669" strike="noStrike" u="none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CNOLOGÍAS UTILIZADAS</a:t>
            </a:r>
          </a:p>
          <a:p>
            <a:pPr algn="l" marL="0" indent="0" lvl="0">
              <a:lnSpc>
                <a:spcPts val="7735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08054" y="6117503"/>
            <a:ext cx="38735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NGU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JE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S DE 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PROGR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999" spc="-185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MACIÓN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04045" y="6117503"/>
            <a:ext cx="38735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RVICIO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S 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 BA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CK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999" spc="-185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08594" y="6117503"/>
            <a:ext cx="447081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999" spc="-185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FRAM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EWO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S Y 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IBR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ERÍA</a:t>
            </a:r>
            <a:r>
              <a:rPr lang="en-US" b="true" sz="2999" spc="-185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12023" y="3408315"/>
            <a:ext cx="5011667" cy="2505834"/>
            <a:chOff x="0" y="0"/>
            <a:chExt cx="660400" cy="330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86B64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34925"/>
              <a:ext cx="406400" cy="15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64309" y="3408315"/>
            <a:ext cx="5011667" cy="2505834"/>
            <a:chOff x="0" y="0"/>
            <a:chExt cx="660400" cy="33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A5A5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34925"/>
              <a:ext cx="406400" cy="15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6633619" y="5909947"/>
            <a:ext cx="5011667" cy="2505834"/>
            <a:chOff x="0" y="0"/>
            <a:chExt cx="660400" cy="330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CCE2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34925"/>
              <a:ext cx="406400" cy="15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74603" y="5305131"/>
            <a:ext cx="1486509" cy="148650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6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26889" y="5305131"/>
            <a:ext cx="1486509" cy="14865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5B5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96198" y="5264471"/>
            <a:ext cx="1486509" cy="14865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CCE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60505" y="8729375"/>
            <a:ext cx="412637" cy="409228"/>
            <a:chOff x="0" y="0"/>
            <a:chExt cx="819572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9572" cy="812800"/>
            </a:xfrm>
            <a:custGeom>
              <a:avLst/>
              <a:gdLst/>
              <a:ahLst/>
              <a:cxnLst/>
              <a:rect r="r" b="b" t="t" l="l"/>
              <a:pathLst>
                <a:path h="812800" w="819572">
                  <a:moveTo>
                    <a:pt x="409786" y="0"/>
                  </a:moveTo>
                  <a:cubicBezTo>
                    <a:pt x="183467" y="0"/>
                    <a:pt x="0" y="181951"/>
                    <a:pt x="0" y="406400"/>
                  </a:cubicBezTo>
                  <a:cubicBezTo>
                    <a:pt x="0" y="630849"/>
                    <a:pt x="183467" y="812800"/>
                    <a:pt x="409786" y="812800"/>
                  </a:cubicBezTo>
                  <a:cubicBezTo>
                    <a:pt x="636105" y="812800"/>
                    <a:pt x="819572" y="630849"/>
                    <a:pt x="819572" y="406400"/>
                  </a:cubicBezTo>
                  <a:cubicBezTo>
                    <a:pt x="819572" y="181951"/>
                    <a:pt x="636105" y="0"/>
                    <a:pt x="409786" y="0"/>
                  </a:cubicBezTo>
                  <a:close/>
                </a:path>
              </a:pathLst>
            </a:custGeom>
            <a:solidFill>
              <a:srgbClr val="FCCE2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835" y="47625"/>
              <a:ext cx="665902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839886" y="1836499"/>
            <a:ext cx="412637" cy="409228"/>
            <a:chOff x="0" y="0"/>
            <a:chExt cx="819572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9572" cy="812800"/>
            </a:xfrm>
            <a:custGeom>
              <a:avLst/>
              <a:gdLst/>
              <a:ahLst/>
              <a:cxnLst/>
              <a:rect r="r" b="b" t="t" l="l"/>
              <a:pathLst>
                <a:path h="812800" w="819572">
                  <a:moveTo>
                    <a:pt x="409786" y="0"/>
                  </a:moveTo>
                  <a:cubicBezTo>
                    <a:pt x="183467" y="0"/>
                    <a:pt x="0" y="181951"/>
                    <a:pt x="0" y="406400"/>
                  </a:cubicBezTo>
                  <a:cubicBezTo>
                    <a:pt x="0" y="630849"/>
                    <a:pt x="183467" y="812800"/>
                    <a:pt x="409786" y="812800"/>
                  </a:cubicBezTo>
                  <a:cubicBezTo>
                    <a:pt x="636105" y="812800"/>
                    <a:pt x="819572" y="630849"/>
                    <a:pt x="819572" y="406400"/>
                  </a:cubicBezTo>
                  <a:cubicBezTo>
                    <a:pt x="819572" y="181951"/>
                    <a:pt x="636105" y="0"/>
                    <a:pt x="409786" y="0"/>
                  </a:cubicBezTo>
                  <a:close/>
                </a:path>
              </a:pathLst>
            </a:custGeom>
            <a:solidFill>
              <a:srgbClr val="86B64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835" y="47625"/>
              <a:ext cx="665902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24529" y="1836499"/>
            <a:ext cx="412637" cy="409228"/>
            <a:chOff x="0" y="0"/>
            <a:chExt cx="819572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9572" cy="812800"/>
            </a:xfrm>
            <a:custGeom>
              <a:avLst/>
              <a:gdLst/>
              <a:ahLst/>
              <a:cxnLst/>
              <a:rect r="r" b="b" t="t" l="l"/>
              <a:pathLst>
                <a:path h="812800" w="819572">
                  <a:moveTo>
                    <a:pt x="409786" y="0"/>
                  </a:moveTo>
                  <a:cubicBezTo>
                    <a:pt x="183467" y="0"/>
                    <a:pt x="0" y="181951"/>
                    <a:pt x="0" y="406400"/>
                  </a:cubicBezTo>
                  <a:cubicBezTo>
                    <a:pt x="0" y="630849"/>
                    <a:pt x="183467" y="812800"/>
                    <a:pt x="409786" y="812800"/>
                  </a:cubicBezTo>
                  <a:cubicBezTo>
                    <a:pt x="636105" y="812800"/>
                    <a:pt x="819572" y="630849"/>
                    <a:pt x="819572" y="406400"/>
                  </a:cubicBezTo>
                  <a:cubicBezTo>
                    <a:pt x="819572" y="181951"/>
                    <a:pt x="636105" y="0"/>
                    <a:pt x="409786" y="0"/>
                  </a:cubicBezTo>
                  <a:close/>
                </a:path>
              </a:pathLst>
            </a:custGeom>
            <a:solidFill>
              <a:srgbClr val="FA5A5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835" y="47625"/>
              <a:ext cx="665902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970055" y="5500584"/>
            <a:ext cx="1095603" cy="1095603"/>
          </a:xfrm>
          <a:custGeom>
            <a:avLst/>
            <a:gdLst/>
            <a:ahLst/>
            <a:cxnLst/>
            <a:rect r="r" b="b" t="t" l="l"/>
            <a:pathLst>
              <a:path h="1095603" w="1095603">
                <a:moveTo>
                  <a:pt x="0" y="0"/>
                </a:moveTo>
                <a:lnTo>
                  <a:pt x="1095604" y="0"/>
                </a:lnTo>
                <a:lnTo>
                  <a:pt x="1095604" y="1095603"/>
                </a:lnTo>
                <a:lnTo>
                  <a:pt x="0" y="1095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82355" y="5438433"/>
            <a:ext cx="923290" cy="1138586"/>
          </a:xfrm>
          <a:custGeom>
            <a:avLst/>
            <a:gdLst/>
            <a:ahLst/>
            <a:cxnLst/>
            <a:rect r="r" b="b" t="t" l="l"/>
            <a:pathLst>
              <a:path h="1138586" w="923290">
                <a:moveTo>
                  <a:pt x="0" y="0"/>
                </a:moveTo>
                <a:lnTo>
                  <a:pt x="923290" y="0"/>
                </a:lnTo>
                <a:lnTo>
                  <a:pt x="923290" y="1138585"/>
                </a:lnTo>
                <a:lnTo>
                  <a:pt x="0" y="1138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296903" y="5542922"/>
            <a:ext cx="946480" cy="1010927"/>
          </a:xfrm>
          <a:custGeom>
            <a:avLst/>
            <a:gdLst/>
            <a:ahLst/>
            <a:cxnLst/>
            <a:rect r="r" b="b" t="t" l="l"/>
            <a:pathLst>
              <a:path h="1010927" w="946480">
                <a:moveTo>
                  <a:pt x="0" y="0"/>
                </a:moveTo>
                <a:lnTo>
                  <a:pt x="946480" y="0"/>
                </a:lnTo>
                <a:lnTo>
                  <a:pt x="946480" y="1010927"/>
                </a:lnTo>
                <a:lnTo>
                  <a:pt x="0" y="10109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32878" y="295275"/>
            <a:ext cx="15213148" cy="1699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b="true" sz="7861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HERRAMIENTAS UTILIZADAS</a:t>
            </a:r>
          </a:p>
          <a:p>
            <a:pPr algn="ctr" marL="0" indent="0" lvl="0">
              <a:lnSpc>
                <a:spcPts val="628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564397" y="8720581"/>
            <a:ext cx="4247717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  <a:r>
              <a:rPr lang="en-US" b="true" sz="3000" spc="-186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ANDROI</a:t>
            </a:r>
            <a:r>
              <a:rPr lang="en-US" b="true" sz="3000" spc="-186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D </a:t>
            </a:r>
            <a:r>
              <a:rPr lang="en-US" b="true" sz="3000" spc="-186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3000" spc="-186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3000" spc="-186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UDIO</a:t>
            </a:r>
          </a:p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0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443778" y="1856208"/>
            <a:ext cx="4247717" cy="126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  <a:r>
              <a:rPr lang="en-US" b="true" sz="3045" spc="-188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VISUA</a:t>
            </a:r>
            <a:r>
              <a:rPr lang="en-US" b="true" sz="3045" spc="-188" strike="noStrike" u="none">
                <a:solidFill>
                  <a:srgbClr val="86B64A"/>
                </a:solidFill>
                <a:latin typeface="Inter Bold"/>
                <a:ea typeface="Inter Bold"/>
                <a:cs typeface="Inter Bold"/>
                <a:sym typeface="Inter Bold"/>
              </a:rPr>
              <a:t>L STUDIO CODE</a:t>
            </a:r>
          </a:p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728421" y="1912526"/>
            <a:ext cx="4247717" cy="42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  <a:r>
              <a:rPr lang="en-US" b="true" sz="3045" spc="-188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IT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HUB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64397" y="9254656"/>
            <a:ext cx="424771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  <a:r>
              <a:rPr lang="en-US" b="true" sz="2300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Com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pila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n,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prueb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as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j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cu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bui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ds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id</a:t>
            </a:r>
            <a:r>
              <a:rPr lang="en-US" b="true" sz="2300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  <a:p>
            <a:pPr algn="l" marL="0" indent="0" lvl="0">
              <a:lnSpc>
                <a:spcPts val="253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3443778" y="2313646"/>
            <a:ext cx="4247717" cy="126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9"/>
              </a:lnSpc>
              <a:spcBef>
                <a:spcPct val="0"/>
              </a:spcBef>
            </a:pPr>
            <a:r>
              <a:rPr lang="en-US" b="true" sz="2299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arrollo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rin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al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aplicac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móv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il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tur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el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oye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o.</a:t>
            </a:r>
          </a:p>
          <a:p>
            <a:pPr algn="l" marL="0" indent="0" lvl="0">
              <a:lnSpc>
                <a:spcPts val="2529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728421" y="2360780"/>
            <a:ext cx="424771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9"/>
              </a:lnSpc>
              <a:spcBef>
                <a:spcPct val="0"/>
              </a:spcBef>
            </a:pPr>
            <a:r>
              <a:rPr lang="en-US" b="true" sz="2299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Con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rol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ve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es y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bajo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lab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tiv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de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qui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po.</a:t>
            </a:r>
          </a:p>
          <a:p>
            <a:pPr algn="l" marL="0" indent="0" lvl="0">
              <a:lnSpc>
                <a:spcPts val="25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0879" y="2671540"/>
            <a:ext cx="5707559" cy="1976457"/>
            <a:chOff x="0" y="0"/>
            <a:chExt cx="121026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0265" cy="419100"/>
            </a:xfrm>
            <a:custGeom>
              <a:avLst/>
              <a:gdLst/>
              <a:ahLst/>
              <a:cxnLst/>
              <a:rect r="r" b="b" t="t" l="l"/>
              <a:pathLst>
                <a:path h="419100" w="1210265">
                  <a:moveTo>
                    <a:pt x="25433" y="0"/>
                  </a:moveTo>
                  <a:lnTo>
                    <a:pt x="984301" y="0"/>
                  </a:lnTo>
                  <a:cubicBezTo>
                    <a:pt x="1115334" y="0"/>
                    <a:pt x="1210265" y="93819"/>
                    <a:pt x="1210265" y="209550"/>
                  </a:cubicBezTo>
                  <a:cubicBezTo>
                    <a:pt x="1210265" y="325281"/>
                    <a:pt x="1115334" y="419100"/>
                    <a:pt x="984301" y="419100"/>
                  </a:cubicBezTo>
                  <a:lnTo>
                    <a:pt x="25433" y="419100"/>
                  </a:lnTo>
                  <a:cubicBezTo>
                    <a:pt x="11387" y="419100"/>
                    <a:pt x="0" y="407713"/>
                    <a:pt x="0" y="393667"/>
                  </a:cubicBezTo>
                  <a:lnTo>
                    <a:pt x="0" y="25433"/>
                  </a:lnTo>
                  <a:cubicBezTo>
                    <a:pt x="0" y="11387"/>
                    <a:pt x="11387" y="0"/>
                    <a:pt x="25433" y="0"/>
                  </a:cubicBezTo>
                  <a:close/>
                </a:path>
              </a:pathLst>
            </a:custGeom>
            <a:solidFill>
              <a:srgbClr val="86B64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19050"/>
              <a:ext cx="981665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0879" y="5230758"/>
            <a:ext cx="5707559" cy="1976457"/>
            <a:chOff x="0" y="0"/>
            <a:chExt cx="1210265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0265" cy="419100"/>
            </a:xfrm>
            <a:custGeom>
              <a:avLst/>
              <a:gdLst/>
              <a:ahLst/>
              <a:cxnLst/>
              <a:rect r="r" b="b" t="t" l="l"/>
              <a:pathLst>
                <a:path h="419100" w="1210265">
                  <a:moveTo>
                    <a:pt x="25433" y="0"/>
                  </a:moveTo>
                  <a:lnTo>
                    <a:pt x="984301" y="0"/>
                  </a:lnTo>
                  <a:cubicBezTo>
                    <a:pt x="1115334" y="0"/>
                    <a:pt x="1210265" y="93819"/>
                    <a:pt x="1210265" y="209550"/>
                  </a:cubicBezTo>
                  <a:cubicBezTo>
                    <a:pt x="1210265" y="325281"/>
                    <a:pt x="1115334" y="419100"/>
                    <a:pt x="984301" y="419100"/>
                  </a:cubicBezTo>
                  <a:lnTo>
                    <a:pt x="25433" y="419100"/>
                  </a:lnTo>
                  <a:cubicBezTo>
                    <a:pt x="11387" y="419100"/>
                    <a:pt x="0" y="407713"/>
                    <a:pt x="0" y="393667"/>
                  </a:cubicBezTo>
                  <a:lnTo>
                    <a:pt x="0" y="25433"/>
                  </a:lnTo>
                  <a:cubicBezTo>
                    <a:pt x="0" y="11387"/>
                    <a:pt x="11387" y="0"/>
                    <a:pt x="25433" y="0"/>
                  </a:cubicBezTo>
                  <a:close/>
                </a:path>
              </a:pathLst>
            </a:custGeom>
            <a:solidFill>
              <a:srgbClr val="FCCE2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19050"/>
              <a:ext cx="981665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520879" y="7648764"/>
            <a:ext cx="5707559" cy="1976457"/>
            <a:chOff x="0" y="0"/>
            <a:chExt cx="1210265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0265" cy="419100"/>
            </a:xfrm>
            <a:custGeom>
              <a:avLst/>
              <a:gdLst/>
              <a:ahLst/>
              <a:cxnLst/>
              <a:rect r="r" b="b" t="t" l="l"/>
              <a:pathLst>
                <a:path h="419100" w="1210265">
                  <a:moveTo>
                    <a:pt x="25433" y="0"/>
                  </a:moveTo>
                  <a:lnTo>
                    <a:pt x="984301" y="0"/>
                  </a:lnTo>
                  <a:cubicBezTo>
                    <a:pt x="1115334" y="0"/>
                    <a:pt x="1210265" y="93819"/>
                    <a:pt x="1210265" y="209550"/>
                  </a:cubicBezTo>
                  <a:cubicBezTo>
                    <a:pt x="1210265" y="325281"/>
                    <a:pt x="1115334" y="419100"/>
                    <a:pt x="984301" y="419100"/>
                  </a:cubicBezTo>
                  <a:lnTo>
                    <a:pt x="25433" y="419100"/>
                  </a:lnTo>
                  <a:cubicBezTo>
                    <a:pt x="11387" y="419100"/>
                    <a:pt x="0" y="407713"/>
                    <a:pt x="0" y="393667"/>
                  </a:cubicBezTo>
                  <a:lnTo>
                    <a:pt x="0" y="25433"/>
                  </a:lnTo>
                  <a:cubicBezTo>
                    <a:pt x="0" y="11387"/>
                    <a:pt x="11387" y="0"/>
                    <a:pt x="25433" y="0"/>
                  </a:cubicBezTo>
                  <a:close/>
                </a:path>
              </a:pathLst>
            </a:custGeom>
            <a:solidFill>
              <a:srgbClr val="FA5A5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5400" y="19050"/>
              <a:ext cx="981665" cy="40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04009" y="2881439"/>
            <a:ext cx="1566050" cy="15660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4009" y="7853968"/>
            <a:ext cx="1566050" cy="15660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4009" y="5435962"/>
            <a:ext cx="1566050" cy="15660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1816581" y="6575515"/>
            <a:ext cx="0" cy="1786140"/>
          </a:xfrm>
          <a:prstGeom prst="line">
            <a:avLst/>
          </a:prstGeom>
          <a:ln cap="flat" w="38100">
            <a:solidFill>
              <a:srgbClr val="FD5B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599185" y="3001286"/>
            <a:ext cx="1175698" cy="1175698"/>
          </a:xfrm>
          <a:custGeom>
            <a:avLst/>
            <a:gdLst/>
            <a:ahLst/>
            <a:cxnLst/>
            <a:rect r="r" b="b" t="t" l="l"/>
            <a:pathLst>
              <a:path h="1175698" w="1175698">
                <a:moveTo>
                  <a:pt x="0" y="0"/>
                </a:moveTo>
                <a:lnTo>
                  <a:pt x="1175698" y="0"/>
                </a:lnTo>
                <a:lnTo>
                  <a:pt x="1175698" y="1175698"/>
                </a:lnTo>
                <a:lnTo>
                  <a:pt x="0" y="1175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404009" y="5435962"/>
            <a:ext cx="1490162" cy="1490162"/>
          </a:xfrm>
          <a:custGeom>
            <a:avLst/>
            <a:gdLst/>
            <a:ahLst/>
            <a:cxnLst/>
            <a:rect r="r" b="b" t="t" l="l"/>
            <a:pathLst>
              <a:path h="1490162" w="1490162">
                <a:moveTo>
                  <a:pt x="0" y="0"/>
                </a:moveTo>
                <a:lnTo>
                  <a:pt x="1490162" y="0"/>
                </a:lnTo>
                <a:lnTo>
                  <a:pt x="1490162" y="1490162"/>
                </a:lnTo>
                <a:lnTo>
                  <a:pt x="0" y="149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604135" y="7988266"/>
            <a:ext cx="1165798" cy="1165798"/>
          </a:xfrm>
          <a:custGeom>
            <a:avLst/>
            <a:gdLst/>
            <a:ahLst/>
            <a:cxnLst/>
            <a:rect r="r" b="b" t="t" l="l"/>
            <a:pathLst>
              <a:path h="1165798" w="1165798">
                <a:moveTo>
                  <a:pt x="0" y="0"/>
                </a:moveTo>
                <a:lnTo>
                  <a:pt x="1165798" y="0"/>
                </a:lnTo>
                <a:lnTo>
                  <a:pt x="1165798" y="1165798"/>
                </a:lnTo>
                <a:lnTo>
                  <a:pt x="0" y="1165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137906" y="3285487"/>
            <a:ext cx="4367163" cy="155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stro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uari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</a:t>
            </a:r>
          </a:p>
          <a:p>
            <a:pPr algn="just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icio de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sesió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</a:p>
          <a:p>
            <a:pPr algn="just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Gest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sio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  <a:p>
            <a:pPr algn="just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Dif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ó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les</a:t>
            </a:r>
          </a:p>
          <a:p>
            <a:pPr algn="just" marL="0" indent="0" lvl="0">
              <a:lnSpc>
                <a:spcPts val="231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950091" y="5651908"/>
            <a:ext cx="4367163" cy="186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Medi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Inv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ario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for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ión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tes</a:t>
            </a:r>
          </a:p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950091" y="8462588"/>
            <a:ext cx="4367163" cy="155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ck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b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jo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eco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ít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</a:p>
          <a:p>
            <a:pPr algn="l" marL="496569" indent="-248284" lvl="1">
              <a:lnSpc>
                <a:spcPts val="25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Ev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tes</a:t>
            </a:r>
          </a:p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080188" y="516652"/>
            <a:ext cx="15179112" cy="307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35"/>
              </a:lnSpc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CONFIGURACIÓN DEL SERVIDOR</a:t>
            </a:r>
          </a:p>
          <a:p>
            <a:pPr algn="r" marL="0" indent="0" lvl="0">
              <a:lnSpc>
                <a:spcPts val="7735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900548" y="2700115"/>
            <a:ext cx="5200648" cy="42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  <a:r>
              <a:rPr lang="en-US" b="true" sz="3045" spc="-188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FIR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ASE 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AUTH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NTIC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AT</a:t>
            </a:r>
            <a:r>
              <a:rPr lang="en-US" b="true" sz="3045" spc="-188" strike="noStrike" u="none">
                <a:solidFill>
                  <a:srgbClr val="60872E"/>
                </a:solidFill>
                <a:latin typeface="Inter Bold"/>
                <a:ea typeface="Inter Bold"/>
                <a:cs typeface="Inter Bold"/>
                <a:sym typeface="Inter Bold"/>
              </a:rPr>
              <a:t>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00548" y="7882543"/>
            <a:ext cx="5887333" cy="115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  <a:r>
              <a:rPr lang="en-US" b="true" sz="3045" spc="-188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FIR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AS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CLOU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D 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SS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3045" spc="-188" strike="noStrike" u="none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GING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4900548" y="4999352"/>
            <a:ext cx="4020655" cy="115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0"/>
              </a:lnSpc>
              <a:spcBef>
                <a:spcPct val="0"/>
              </a:spcBef>
            </a:pPr>
            <a:r>
              <a:rPr lang="en-US" b="true" sz="3045" spc="-188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CLOU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D 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FIR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OR</a:t>
            </a:r>
            <a:r>
              <a:rPr lang="en-US" b="true" sz="3045" spc="-188" strike="noStrike" u="none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1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170799" y="3285487"/>
            <a:ext cx="5249681" cy="189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9"/>
              </a:lnSpc>
              <a:spcBef>
                <a:spcPct val="0"/>
              </a:spcBef>
            </a:pP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La arquite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ctu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ra bac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ke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nd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ada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za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rv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b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ase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tien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au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icación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g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ura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,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al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acen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en tiem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eal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y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com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nicación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instantán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con l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d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n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t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fic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ac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one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push</a:t>
            </a:r>
            <a:r>
              <a:rPr lang="en-US" b="true" sz="2299" spc="-142" strike="noStrike" u="non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47531" y="6594565"/>
            <a:ext cx="2942001" cy="198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b="true" sz="1800" i="true" spc="-111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Fir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est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ti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z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egla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segurid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p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ara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ir 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acc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única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nte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usu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ica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, p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rot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gie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ndo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inf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rmació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éd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ca y los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os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nsi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b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le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 al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macen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ados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en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la p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t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af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o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rma</a:t>
            </a:r>
            <a:r>
              <a:rPr lang="en-US" b="true" sz="1800" i="true" spc="-111" strike="noStrike" u="none">
                <a:solidFill>
                  <a:srgbClr val="403E3E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9802319" y="4851867"/>
            <a:ext cx="2061935" cy="20619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56792" y="5506340"/>
            <a:ext cx="752989" cy="752989"/>
          </a:xfrm>
          <a:custGeom>
            <a:avLst/>
            <a:gdLst/>
            <a:ahLst/>
            <a:cxnLst/>
            <a:rect r="r" b="b" t="t" l="l"/>
            <a:pathLst>
              <a:path h="752989" w="752989">
                <a:moveTo>
                  <a:pt x="0" y="0"/>
                </a:moveTo>
                <a:lnTo>
                  <a:pt x="752989" y="0"/>
                </a:lnTo>
                <a:lnTo>
                  <a:pt x="752989" y="752989"/>
                </a:lnTo>
                <a:lnTo>
                  <a:pt x="0" y="7529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97364"/>
            <a:ext cx="14561290" cy="9789636"/>
          </a:xfrm>
          <a:custGeom>
            <a:avLst/>
            <a:gdLst/>
            <a:ahLst/>
            <a:cxnLst/>
            <a:rect r="r" b="b" t="t" l="l"/>
            <a:pathLst>
              <a:path h="9789636" w="14561290">
                <a:moveTo>
                  <a:pt x="0" y="0"/>
                </a:moveTo>
                <a:lnTo>
                  <a:pt x="14561290" y="0"/>
                </a:lnTo>
                <a:lnTo>
                  <a:pt x="14561290" y="9789636"/>
                </a:lnTo>
                <a:lnTo>
                  <a:pt x="0" y="9789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92" r="0" b="-279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34117" y="38100"/>
            <a:ext cx="6514951" cy="56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b="true" sz="3999" spc="-2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ASPE</a:t>
            </a:r>
            <a:r>
              <a:rPr lang="en-US" b="true" sz="3999" spc="-24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CTOS DE INTEGRACIÓN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61290" y="2250219"/>
            <a:ext cx="4236798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buFont typeface="Arial"/>
              <a:buChar char="•"/>
            </a:pPr>
            <a:r>
              <a:rPr lang="en-US" b="true" sz="2299" spc="-14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Ingreso Seguro y Personalizado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61290" y="3127154"/>
            <a:ext cx="4204692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buFont typeface="Arial"/>
              <a:buChar char="•"/>
            </a:pPr>
            <a:r>
              <a:rPr lang="en-US" b="true" sz="2299" spc="-142">
                <a:solidFill>
                  <a:srgbClr val="FD5B51"/>
                </a:solidFill>
                <a:latin typeface="Inter Bold"/>
                <a:ea typeface="Inter Bold"/>
                <a:cs typeface="Inter Bold"/>
                <a:sym typeface="Inter Bold"/>
              </a:rPr>
              <a:t>Conexión Rápida con un Escaneo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61290" y="3953282"/>
            <a:ext cx="2544961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buFont typeface="Arial"/>
              <a:buChar char="•"/>
            </a:pPr>
            <a:r>
              <a:rPr lang="en-US" b="true" sz="2299" spc="-142">
                <a:solidFill>
                  <a:srgbClr val="7ED957"/>
                </a:solidFill>
                <a:latin typeface="Inter Bold"/>
                <a:ea typeface="Inter Bold"/>
                <a:cs typeface="Inter Bold"/>
                <a:sym typeface="Inter Bold"/>
              </a:rPr>
              <a:t>Control y Avisos</a:t>
            </a:r>
          </a:p>
          <a:p>
            <a:pPr algn="l">
              <a:lnSpc>
                <a:spcPts val="2529"/>
              </a:lnSpc>
            </a:pPr>
            <a:r>
              <a:rPr lang="en-US" b="true" sz="2299" spc="-142">
                <a:solidFill>
                  <a:srgbClr val="7ED957"/>
                </a:solidFill>
                <a:latin typeface="Inter Bold"/>
                <a:ea typeface="Inter Bold"/>
                <a:cs typeface="Inter Bold"/>
                <a:sym typeface="Inter Bold"/>
              </a:rPr>
              <a:t>          en Tiempo Real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61290" y="4830217"/>
            <a:ext cx="2144464" cy="63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529"/>
              </a:lnSpc>
              <a:buFont typeface="Arial"/>
              <a:buChar char="•"/>
            </a:pPr>
            <a:r>
              <a:rPr lang="en-US" b="true" sz="2299" spc="-142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Buscador de </a:t>
            </a:r>
          </a:p>
          <a:p>
            <a:pPr algn="l">
              <a:lnSpc>
                <a:spcPts val="2529"/>
              </a:lnSpc>
            </a:pPr>
            <a:r>
              <a:rPr lang="en-US" b="true" sz="2299" spc="-142">
                <a:solidFill>
                  <a:srgbClr val="FCCE2A"/>
                </a:solidFill>
                <a:latin typeface="Inter Bold"/>
                <a:ea typeface="Inter Bold"/>
                <a:cs typeface="Inter Bold"/>
                <a:sym typeface="Inter Bold"/>
              </a:rPr>
              <a:t>             ahorro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3897" y="1028700"/>
            <a:ext cx="10167724" cy="9011580"/>
          </a:xfrm>
          <a:custGeom>
            <a:avLst/>
            <a:gdLst/>
            <a:ahLst/>
            <a:cxnLst/>
            <a:rect r="r" b="b" t="t" l="l"/>
            <a:pathLst>
              <a:path h="9011580" w="10167724">
                <a:moveTo>
                  <a:pt x="0" y="0"/>
                </a:moveTo>
                <a:lnTo>
                  <a:pt x="10167723" y="0"/>
                </a:lnTo>
                <a:lnTo>
                  <a:pt x="10167723" y="9011580"/>
                </a:lnTo>
                <a:lnTo>
                  <a:pt x="0" y="901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2975" y="361950"/>
            <a:ext cx="7866325" cy="111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35"/>
              </a:lnSpc>
              <a:spcBef>
                <a:spcPct val="0"/>
              </a:spcBef>
            </a:pPr>
            <a:r>
              <a:rPr lang="en-US" b="true" sz="9669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MOCKUPS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4625" y="0"/>
            <a:ext cx="12779775" cy="10287000"/>
          </a:xfrm>
          <a:custGeom>
            <a:avLst/>
            <a:gdLst/>
            <a:ahLst/>
            <a:cxnLst/>
            <a:rect r="r" b="b" t="t" l="l"/>
            <a:pathLst>
              <a:path h="10287000" w="12779775">
                <a:moveTo>
                  <a:pt x="0" y="0"/>
                </a:moveTo>
                <a:lnTo>
                  <a:pt x="12779775" y="0"/>
                </a:lnTo>
                <a:lnTo>
                  <a:pt x="12779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58" r="0" b="-465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67578" y="0"/>
            <a:ext cx="11685662" cy="10287000"/>
          </a:xfrm>
          <a:custGeom>
            <a:avLst/>
            <a:gdLst/>
            <a:ahLst/>
            <a:cxnLst/>
            <a:rect r="r" b="b" t="t" l="l"/>
            <a:pathLst>
              <a:path h="10287000" w="11685662">
                <a:moveTo>
                  <a:pt x="0" y="0"/>
                </a:moveTo>
                <a:lnTo>
                  <a:pt x="11685662" y="0"/>
                </a:lnTo>
                <a:lnTo>
                  <a:pt x="116856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65" r="0" b="-146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99067" y="0"/>
            <a:ext cx="9689865" cy="10287000"/>
          </a:xfrm>
          <a:custGeom>
            <a:avLst/>
            <a:gdLst/>
            <a:ahLst/>
            <a:cxnLst/>
            <a:rect r="r" b="b" t="t" l="l"/>
            <a:pathLst>
              <a:path h="10287000" w="9689865">
                <a:moveTo>
                  <a:pt x="0" y="0"/>
                </a:moveTo>
                <a:lnTo>
                  <a:pt x="9689866" y="0"/>
                </a:lnTo>
                <a:lnTo>
                  <a:pt x="96898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3277" y="0"/>
            <a:ext cx="9232061" cy="10276035"/>
          </a:xfrm>
          <a:custGeom>
            <a:avLst/>
            <a:gdLst/>
            <a:ahLst/>
            <a:cxnLst/>
            <a:rect r="r" b="b" t="t" l="l"/>
            <a:pathLst>
              <a:path h="10276035" w="9232061">
                <a:moveTo>
                  <a:pt x="0" y="0"/>
                </a:moveTo>
                <a:lnTo>
                  <a:pt x="9232061" y="0"/>
                </a:lnTo>
                <a:lnTo>
                  <a:pt x="9232061" y="10276035"/>
                </a:lnTo>
                <a:lnTo>
                  <a:pt x="0" y="10276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9" r="0" b="-829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2624" y="0"/>
            <a:ext cx="9562752" cy="10287000"/>
          </a:xfrm>
          <a:custGeom>
            <a:avLst/>
            <a:gdLst/>
            <a:ahLst/>
            <a:cxnLst/>
            <a:rect r="r" b="b" t="t" l="l"/>
            <a:pathLst>
              <a:path h="10287000" w="9562752">
                <a:moveTo>
                  <a:pt x="0" y="0"/>
                </a:moveTo>
                <a:lnTo>
                  <a:pt x="9562752" y="0"/>
                </a:lnTo>
                <a:lnTo>
                  <a:pt x="95627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4729" y="733173"/>
            <a:ext cx="10502817" cy="9649647"/>
          </a:xfrm>
          <a:custGeom>
            <a:avLst/>
            <a:gdLst/>
            <a:ahLst/>
            <a:cxnLst/>
            <a:rect r="r" b="b" t="t" l="l"/>
            <a:pathLst>
              <a:path h="9649647" w="10502817">
                <a:moveTo>
                  <a:pt x="0" y="0"/>
                </a:moveTo>
                <a:lnTo>
                  <a:pt x="10502817" y="0"/>
                </a:lnTo>
                <a:lnTo>
                  <a:pt x="10502817" y="9649647"/>
                </a:lnTo>
                <a:lnTo>
                  <a:pt x="0" y="9649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2975" y="190500"/>
            <a:ext cx="7866325" cy="54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  <a:r>
              <a:rPr lang="en-US" b="true" sz="4870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ADULTO MAYOR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4897" y="0"/>
            <a:ext cx="11342481" cy="10287000"/>
          </a:xfrm>
          <a:custGeom>
            <a:avLst/>
            <a:gdLst/>
            <a:ahLst/>
            <a:cxnLst/>
            <a:rect r="r" b="b" t="t" l="l"/>
            <a:pathLst>
              <a:path h="10287000" w="11342481">
                <a:moveTo>
                  <a:pt x="0" y="0"/>
                </a:moveTo>
                <a:lnTo>
                  <a:pt x="11342481" y="0"/>
                </a:lnTo>
                <a:lnTo>
                  <a:pt x="113424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12975" y="190500"/>
            <a:ext cx="7866325" cy="542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6"/>
              </a:lnSpc>
              <a:spcBef>
                <a:spcPct val="0"/>
              </a:spcBef>
            </a:pPr>
            <a:r>
              <a:rPr lang="en-US" b="true" sz="4870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 ADULTO MAYOR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36999" y="3516595"/>
            <a:ext cx="11715562" cy="5021373"/>
          </a:xfrm>
          <a:custGeom>
            <a:avLst/>
            <a:gdLst/>
            <a:ahLst/>
            <a:cxnLst/>
            <a:rect r="r" b="b" t="t" l="l"/>
            <a:pathLst>
              <a:path h="5021373" w="11715562">
                <a:moveTo>
                  <a:pt x="0" y="0"/>
                </a:moveTo>
                <a:lnTo>
                  <a:pt x="11715562" y="0"/>
                </a:lnTo>
                <a:lnTo>
                  <a:pt x="11715562" y="5021373"/>
                </a:lnTo>
                <a:lnTo>
                  <a:pt x="0" y="5021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97" t="-83521" r="-8261" b="-762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5603" y="1755933"/>
            <a:ext cx="6898353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60"/>
              </a:lnSpc>
              <a:spcBef>
                <a:spcPct val="0"/>
              </a:spcBef>
            </a:pPr>
            <a:r>
              <a:rPr lang="en-US" b="true" sz="7200">
                <a:solidFill>
                  <a:srgbClr val="403E3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DAHKW5cgBrg</dc:identifier>
  <dcterms:modified xsi:type="dcterms:W3CDTF">2011-08-01T06:04:30Z</dcterms:modified>
  <cp:revision>1</cp:revision>
  <dc:title>PRESENTACIÓN G-PIM</dc:title>
</cp:coreProperties>
</file>