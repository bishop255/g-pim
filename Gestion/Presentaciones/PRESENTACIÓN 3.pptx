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" charset="1" panose="02000503000000020004"/>
      <p:regular r:id="rId16"/>
    </p:embeddedFont>
    <p:embeddedFont>
      <p:font typeface="Glacial Indifference Bold" charset="1" panose="00000800000000000000"/>
      <p:regular r:id="rId17"/>
    </p:embeddedFont>
    <p:embeddedFont>
      <p:font typeface="Glacial Indifference" charset="1" panose="00000000000000000000"/>
      <p:regular r:id="rId18"/>
    </p:embeddedFont>
    <p:embeddedFont>
      <p:font typeface="Inter Bold" charset="1" panose="0200050300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17" Target="../media/image28.png" Type="http://schemas.openxmlformats.org/officeDocument/2006/relationships/image"/><Relationship Id="rId18" Target="../media/image29.sv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44.png" Type="http://schemas.openxmlformats.org/officeDocument/2006/relationships/image"/><Relationship Id="rId17" Target="../media/image45.svg" Type="http://schemas.openxmlformats.org/officeDocument/2006/relationships/image"/><Relationship Id="rId18" Target="../media/image46.png" Type="http://schemas.openxmlformats.org/officeDocument/2006/relationships/image"/><Relationship Id="rId19" Target="../media/image47.svg" Type="http://schemas.openxmlformats.org/officeDocument/2006/relationships/image"/><Relationship Id="rId2" Target="../media/image30.png" Type="http://schemas.openxmlformats.org/officeDocument/2006/relationships/image"/><Relationship Id="rId20" Target="../media/image48.png" Type="http://schemas.openxmlformats.org/officeDocument/2006/relationships/image"/><Relationship Id="rId21" Target="../media/image49.svg" Type="http://schemas.openxmlformats.org/officeDocument/2006/relationships/image"/><Relationship Id="rId22" Target="../media/image50.png" Type="http://schemas.openxmlformats.org/officeDocument/2006/relationships/image"/><Relationship Id="rId23" Target="../media/image51.png" Type="http://schemas.openxmlformats.org/officeDocument/2006/relationships/image"/><Relationship Id="rId24" Target="../media/image52.sv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44.png" Type="http://schemas.openxmlformats.org/officeDocument/2006/relationships/image"/><Relationship Id="rId17" Target="../media/image45.svg" Type="http://schemas.openxmlformats.org/officeDocument/2006/relationships/image"/><Relationship Id="rId18" Target="../media/image46.png" Type="http://schemas.openxmlformats.org/officeDocument/2006/relationships/image"/><Relationship Id="rId19" Target="../media/image47.svg" Type="http://schemas.openxmlformats.org/officeDocument/2006/relationships/image"/><Relationship Id="rId2" Target="../media/image30.png" Type="http://schemas.openxmlformats.org/officeDocument/2006/relationships/image"/><Relationship Id="rId20" Target="../media/image53.png" Type="http://schemas.openxmlformats.org/officeDocument/2006/relationships/image"/><Relationship Id="rId21" Target="../media/image54.svg" Type="http://schemas.openxmlformats.org/officeDocument/2006/relationships/image"/><Relationship Id="rId22" Target="../media/image55.png" Type="http://schemas.openxmlformats.org/officeDocument/2006/relationships/image"/><Relationship Id="rId23" Target="../media/image56.svg" Type="http://schemas.openxmlformats.org/officeDocument/2006/relationships/image"/><Relationship Id="rId24" Target="../media/image57.png" Type="http://schemas.openxmlformats.org/officeDocument/2006/relationships/image"/><Relationship Id="rId25" Target="../media/image58.sv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11" Target="../media/image61.png" Type="http://schemas.openxmlformats.org/officeDocument/2006/relationships/image"/><Relationship Id="rId12" Target="../media/image62.svg" Type="http://schemas.openxmlformats.org/officeDocument/2006/relationships/image"/><Relationship Id="rId13" Target="../media/image63.png" Type="http://schemas.openxmlformats.org/officeDocument/2006/relationships/image"/><Relationship Id="rId14" Target="../media/image64.svg" Type="http://schemas.openxmlformats.org/officeDocument/2006/relationships/image"/><Relationship Id="rId15" Target="../media/image65.png" Type="http://schemas.openxmlformats.org/officeDocument/2006/relationships/image"/><Relationship Id="rId16" Target="../media/image66.svg" Type="http://schemas.openxmlformats.org/officeDocument/2006/relationships/image"/><Relationship Id="rId17" Target="../media/image67.png" Type="http://schemas.openxmlformats.org/officeDocument/2006/relationships/image"/><Relationship Id="rId18" Target="../media/image68.sv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9378" y="7275028"/>
            <a:ext cx="19050" cy="2106120"/>
            <a:chOff x="0" y="0"/>
            <a:chExt cx="25400" cy="2808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" cy="2808097"/>
            </a:xfrm>
            <a:custGeom>
              <a:avLst/>
              <a:gdLst/>
              <a:ahLst/>
              <a:cxnLst/>
              <a:rect r="r" b="b" t="t" l="l"/>
              <a:pathLst>
                <a:path h="2808097" w="25400">
                  <a:moveTo>
                    <a:pt x="0" y="0"/>
                  </a:moveTo>
                  <a:lnTo>
                    <a:pt x="25400" y="2808097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4134922" t="0" r="-14134922" b="-2"/>
              </a:stretch>
            </a:blipFill>
            <a:ln w="19050" cap="sq">
              <a:solidFill>
                <a:srgbClr val="2B2B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36046" y="5324008"/>
            <a:ext cx="5138080" cy="1001973"/>
            <a:chOff x="0" y="0"/>
            <a:chExt cx="6850774" cy="13359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50761" cy="1335913"/>
            </a:xfrm>
            <a:custGeom>
              <a:avLst/>
              <a:gdLst/>
              <a:ahLst/>
              <a:cxnLst/>
              <a:rect r="r" b="b" t="t" l="l"/>
              <a:pathLst>
                <a:path h="1335913" w="6850761">
                  <a:moveTo>
                    <a:pt x="389001" y="0"/>
                  </a:moveTo>
                  <a:lnTo>
                    <a:pt x="6461760" y="0"/>
                  </a:lnTo>
                  <a:cubicBezTo>
                    <a:pt x="6564884" y="0"/>
                    <a:pt x="6663944" y="41021"/>
                    <a:pt x="6736842" y="113919"/>
                  </a:cubicBezTo>
                  <a:cubicBezTo>
                    <a:pt x="6809740" y="186817"/>
                    <a:pt x="6850761" y="285877"/>
                    <a:pt x="6850761" y="389001"/>
                  </a:cubicBezTo>
                  <a:lnTo>
                    <a:pt x="6850761" y="946912"/>
                  </a:lnTo>
                  <a:cubicBezTo>
                    <a:pt x="6850761" y="1161796"/>
                    <a:pt x="6676644" y="1335913"/>
                    <a:pt x="6461760" y="1335913"/>
                  </a:cubicBezTo>
                  <a:lnTo>
                    <a:pt x="389001" y="1335913"/>
                  </a:lnTo>
                  <a:cubicBezTo>
                    <a:pt x="174117" y="1335913"/>
                    <a:pt x="0" y="1161796"/>
                    <a:pt x="0" y="946912"/>
                  </a:cubicBezTo>
                  <a:lnTo>
                    <a:pt x="0" y="389001"/>
                  </a:lnTo>
                  <a:cubicBezTo>
                    <a:pt x="0" y="174117"/>
                    <a:pt x="174117" y="0"/>
                    <a:pt x="389001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6046" y="5396341"/>
            <a:ext cx="5138080" cy="929640"/>
            <a:chOff x="0" y="0"/>
            <a:chExt cx="6850774" cy="1239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50771" cy="1239522"/>
            </a:xfrm>
            <a:custGeom>
              <a:avLst/>
              <a:gdLst/>
              <a:ahLst/>
              <a:cxnLst/>
              <a:rect r="r" b="b" t="t" l="l"/>
              <a:pathLst>
                <a:path h="1239522" w="6850771">
                  <a:moveTo>
                    <a:pt x="0" y="0"/>
                  </a:moveTo>
                  <a:lnTo>
                    <a:pt x="6850771" y="0"/>
                  </a:lnTo>
                  <a:lnTo>
                    <a:pt x="6850771" y="1239522"/>
                  </a:lnTo>
                  <a:lnTo>
                    <a:pt x="0" y="12395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92" r="0" b="-576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6850774" cy="1210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58"/>
                </a:lnSpc>
              </a:pPr>
              <a:r>
                <a:rPr lang="en-US" sz="2599" spc="506">
                  <a:solidFill>
                    <a:srgbClr val="403E3E"/>
                  </a:solidFill>
                  <a:latin typeface="Inter"/>
                  <a:ea typeface="Inter"/>
                  <a:cs typeface="Inter"/>
                  <a:sym typeface="Inter"/>
                </a:rPr>
                <a:t>TALLER DE PROGRAMACIÓN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3742611"/>
            <a:ext cx="7607341" cy="3645284"/>
            <a:chOff x="0" y="0"/>
            <a:chExt cx="10143122" cy="4860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43109" cy="4860417"/>
            </a:xfrm>
            <a:custGeom>
              <a:avLst/>
              <a:gdLst/>
              <a:ahLst/>
              <a:cxnLst/>
              <a:rect r="r" b="b" t="t" l="l"/>
              <a:pathLst>
                <a:path h="4860417" w="10143109">
                  <a:moveTo>
                    <a:pt x="0" y="0"/>
                  </a:moveTo>
                  <a:lnTo>
                    <a:pt x="10143109" y="0"/>
                  </a:lnTo>
                  <a:lnTo>
                    <a:pt x="10143109" y="4860417"/>
                  </a:lnTo>
                  <a:lnTo>
                    <a:pt x="0" y="4860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4344" r="0" b="-5434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36046" y="2570969"/>
            <a:ext cx="8687842" cy="111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35"/>
              </a:lnSpc>
            </a:pPr>
            <a:r>
              <a:rPr lang="en-US" sz="9669" b="tru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PRESENTACIÓN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6046" y="3730371"/>
            <a:ext cx="6347371" cy="111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35"/>
              </a:lnSpc>
            </a:pPr>
            <a:r>
              <a:rPr lang="en-US" sz="9669">
                <a:solidFill>
                  <a:srgbClr val="403E3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GRUPO N°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0886" y="7426452"/>
            <a:ext cx="4915071" cy="183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b="true" sz="2699" spc="-16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INTEGRANTES:</a:t>
            </a:r>
          </a:p>
          <a:p>
            <a:pPr algn="l" marL="548640" indent="-182880" lvl="2">
              <a:lnSpc>
                <a:spcPts val="4152"/>
              </a:lnSpc>
              <a:buFont typeface="Arial"/>
              <a:buChar char="⚬"/>
            </a:pPr>
            <a:r>
              <a:rPr lang="en-US" b="true" sz="2400" spc="-148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ANDRÉS MORENO</a:t>
            </a:r>
          </a:p>
          <a:p>
            <a:pPr algn="l" marL="548640" indent="-182880" lvl="2">
              <a:lnSpc>
                <a:spcPts val="4152"/>
              </a:lnSpc>
              <a:buFont typeface="Arial"/>
              <a:buChar char="⚬"/>
            </a:pPr>
            <a:r>
              <a:rPr lang="en-US" b="true" sz="2400" spc="-148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NICOLAS MORAGA</a:t>
            </a:r>
          </a:p>
          <a:p>
            <a:pPr algn="l" marL="548640" indent="-182880" lvl="2">
              <a:lnSpc>
                <a:spcPts val="4152"/>
              </a:lnSpc>
              <a:buFont typeface="Arial"/>
              <a:buChar char="⚬"/>
            </a:pPr>
            <a:r>
              <a:rPr lang="en-US" b="true" sz="2400" spc="-148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ANDRÉS FIGUEROA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6856" y="3235128"/>
            <a:ext cx="1267025" cy="1267025"/>
          </a:xfrm>
          <a:custGeom>
            <a:avLst/>
            <a:gdLst/>
            <a:ahLst/>
            <a:cxnLst/>
            <a:rect r="r" b="b" t="t" l="l"/>
            <a:pathLst>
              <a:path h="1267025" w="1267025">
                <a:moveTo>
                  <a:pt x="0" y="0"/>
                </a:moveTo>
                <a:lnTo>
                  <a:pt x="1267025" y="0"/>
                </a:lnTo>
                <a:lnTo>
                  <a:pt x="1267025" y="1267025"/>
                </a:lnTo>
                <a:lnTo>
                  <a:pt x="0" y="1267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4003" y="3198181"/>
            <a:ext cx="1303972" cy="1303973"/>
          </a:xfrm>
          <a:custGeom>
            <a:avLst/>
            <a:gdLst/>
            <a:ahLst/>
            <a:cxnLst/>
            <a:rect r="r" b="b" t="t" l="l"/>
            <a:pathLst>
              <a:path h="1303973" w="1303972">
                <a:moveTo>
                  <a:pt x="0" y="0"/>
                </a:moveTo>
                <a:lnTo>
                  <a:pt x="1303972" y="0"/>
                </a:lnTo>
                <a:lnTo>
                  <a:pt x="1303972" y="1303972"/>
                </a:lnTo>
                <a:lnTo>
                  <a:pt x="0" y="1303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26856" y="5940428"/>
            <a:ext cx="1301305" cy="1301306"/>
          </a:xfrm>
          <a:custGeom>
            <a:avLst/>
            <a:gdLst/>
            <a:ahLst/>
            <a:cxnLst/>
            <a:rect r="r" b="b" t="t" l="l"/>
            <a:pathLst>
              <a:path h="1301306" w="1301305">
                <a:moveTo>
                  <a:pt x="0" y="0"/>
                </a:moveTo>
                <a:lnTo>
                  <a:pt x="1301306" y="0"/>
                </a:lnTo>
                <a:lnTo>
                  <a:pt x="1301306" y="1301306"/>
                </a:lnTo>
                <a:lnTo>
                  <a:pt x="0" y="130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13585" y="5940428"/>
            <a:ext cx="1303972" cy="1303972"/>
          </a:xfrm>
          <a:custGeom>
            <a:avLst/>
            <a:gdLst/>
            <a:ahLst/>
            <a:cxnLst/>
            <a:rect r="r" b="b" t="t" l="l"/>
            <a:pathLst>
              <a:path h="1303972" w="1303972">
                <a:moveTo>
                  <a:pt x="0" y="0"/>
                </a:moveTo>
                <a:lnTo>
                  <a:pt x="1303972" y="0"/>
                </a:lnTo>
                <a:lnTo>
                  <a:pt x="1303972" y="1303973"/>
                </a:lnTo>
                <a:lnTo>
                  <a:pt x="0" y="13039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75224" y="3558083"/>
            <a:ext cx="570281" cy="621097"/>
          </a:xfrm>
          <a:custGeom>
            <a:avLst/>
            <a:gdLst/>
            <a:ahLst/>
            <a:cxnLst/>
            <a:rect r="r" b="b" t="t" l="l"/>
            <a:pathLst>
              <a:path h="621097" w="570281">
                <a:moveTo>
                  <a:pt x="0" y="0"/>
                </a:moveTo>
                <a:lnTo>
                  <a:pt x="570280" y="0"/>
                </a:lnTo>
                <a:lnTo>
                  <a:pt x="570280" y="621096"/>
                </a:lnTo>
                <a:lnTo>
                  <a:pt x="0" y="6210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30" t="0" r="-32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70849" y="3558083"/>
            <a:ext cx="570281" cy="621097"/>
          </a:xfrm>
          <a:custGeom>
            <a:avLst/>
            <a:gdLst/>
            <a:ahLst/>
            <a:cxnLst/>
            <a:rect r="r" b="b" t="t" l="l"/>
            <a:pathLst>
              <a:path h="621097" w="570281">
                <a:moveTo>
                  <a:pt x="0" y="0"/>
                </a:moveTo>
                <a:lnTo>
                  <a:pt x="570280" y="0"/>
                </a:lnTo>
                <a:lnTo>
                  <a:pt x="570280" y="621096"/>
                </a:lnTo>
                <a:lnTo>
                  <a:pt x="0" y="6210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30" t="0" r="-32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65702" y="3708959"/>
            <a:ext cx="3551977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b="true" sz="2645" spc="-1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ENFOQUE Y OBJETIVO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65090" y="3527984"/>
            <a:ext cx="4329046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b="true" sz="2645" spc="-1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MODULOS EVALUADOS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75284" y="6484277"/>
            <a:ext cx="3926681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b="true" sz="2645" spc="-1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ENTORNO Y TECNOLOGIA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70919" y="6471218"/>
            <a:ext cx="3558332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b="true" sz="2645" spc="-1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RESULTADO ESPERADO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2582" y="1503864"/>
            <a:ext cx="8982847" cy="74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35"/>
              </a:lnSpc>
            </a:pPr>
            <a:r>
              <a:rPr lang="en-US" sz="9669" b="tru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INTRODUCCIÓN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484806" y="6320342"/>
            <a:ext cx="570281" cy="621097"/>
          </a:xfrm>
          <a:custGeom>
            <a:avLst/>
            <a:gdLst/>
            <a:ahLst/>
            <a:cxnLst/>
            <a:rect r="r" b="b" t="t" l="l"/>
            <a:pathLst>
              <a:path h="621097" w="570281">
                <a:moveTo>
                  <a:pt x="0" y="0"/>
                </a:moveTo>
                <a:lnTo>
                  <a:pt x="570281" y="0"/>
                </a:lnTo>
                <a:lnTo>
                  <a:pt x="570281" y="621097"/>
                </a:lnTo>
                <a:lnTo>
                  <a:pt x="0" y="621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30" t="0" r="-329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80431" y="6280528"/>
            <a:ext cx="570281" cy="621097"/>
          </a:xfrm>
          <a:custGeom>
            <a:avLst/>
            <a:gdLst/>
            <a:ahLst/>
            <a:cxnLst/>
            <a:rect r="r" b="b" t="t" l="l"/>
            <a:pathLst>
              <a:path h="621097" w="570281">
                <a:moveTo>
                  <a:pt x="0" y="0"/>
                </a:moveTo>
                <a:lnTo>
                  <a:pt x="570281" y="0"/>
                </a:lnTo>
                <a:lnTo>
                  <a:pt x="570281" y="621097"/>
                </a:lnTo>
                <a:lnTo>
                  <a:pt x="0" y="621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30" t="0" r="-329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22629" y="3463061"/>
            <a:ext cx="2736685" cy="38100"/>
            <a:chOff x="0" y="0"/>
            <a:chExt cx="3648913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48964" cy="50800"/>
            </a:xfrm>
            <a:custGeom>
              <a:avLst/>
              <a:gdLst/>
              <a:ahLst/>
              <a:cxnLst/>
              <a:rect r="r" b="b" t="t" l="l"/>
              <a:pathLst>
                <a:path h="50800" w="3648964">
                  <a:moveTo>
                    <a:pt x="0" y="0"/>
                  </a:moveTo>
                  <a:lnTo>
                    <a:pt x="3648964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49590" r="1" b="-134959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43206" y="3239605"/>
            <a:ext cx="2717140" cy="38100"/>
            <a:chOff x="0" y="0"/>
            <a:chExt cx="3622853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22802" cy="50800"/>
            </a:xfrm>
            <a:custGeom>
              <a:avLst/>
              <a:gdLst/>
              <a:ahLst/>
              <a:cxnLst/>
              <a:rect r="r" b="b" t="t" l="l"/>
              <a:pathLst>
                <a:path h="50800" w="3622802">
                  <a:moveTo>
                    <a:pt x="0" y="0"/>
                  </a:moveTo>
                  <a:lnTo>
                    <a:pt x="3622802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39594" r="-1" b="-133959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741670" y="7438244"/>
            <a:ext cx="2736685" cy="38100"/>
            <a:chOff x="0" y="0"/>
            <a:chExt cx="3648913" cy="5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48964" cy="50800"/>
            </a:xfrm>
            <a:custGeom>
              <a:avLst/>
              <a:gdLst/>
              <a:ahLst/>
              <a:cxnLst/>
              <a:rect r="r" b="b" t="t" l="l"/>
              <a:pathLst>
                <a:path h="50800" w="3648964">
                  <a:moveTo>
                    <a:pt x="0" y="0"/>
                  </a:moveTo>
                  <a:lnTo>
                    <a:pt x="3648964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49590" r="1" b="-134959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43206" y="7466667"/>
            <a:ext cx="2717140" cy="38100"/>
            <a:chOff x="0" y="0"/>
            <a:chExt cx="3622853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2802" cy="50800"/>
            </a:xfrm>
            <a:custGeom>
              <a:avLst/>
              <a:gdLst/>
              <a:ahLst/>
              <a:cxnLst/>
              <a:rect r="r" b="b" t="t" l="l"/>
              <a:pathLst>
                <a:path h="50800" w="3622802">
                  <a:moveTo>
                    <a:pt x="0" y="0"/>
                  </a:moveTo>
                  <a:lnTo>
                    <a:pt x="3622802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39594" r="-1" b="-1339594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48136" y="3224289"/>
            <a:ext cx="38100" cy="1139990"/>
            <a:chOff x="0" y="0"/>
            <a:chExt cx="50800" cy="15199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1519936"/>
            </a:xfrm>
            <a:custGeom>
              <a:avLst/>
              <a:gdLst/>
              <a:ahLst/>
              <a:cxnLst/>
              <a:rect r="r" b="b" t="t" l="l"/>
              <a:pathLst>
                <a:path h="1519936" w="50800">
                  <a:moveTo>
                    <a:pt x="0" y="1519936"/>
                  </a:moveTo>
                  <a:lnTo>
                    <a:pt x="508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3788971" t="0" r="-3788971" b="-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343206" y="3224289"/>
            <a:ext cx="38100" cy="1468917"/>
            <a:chOff x="0" y="0"/>
            <a:chExt cx="50800" cy="1958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1958594"/>
            </a:xfrm>
            <a:custGeom>
              <a:avLst/>
              <a:gdLst/>
              <a:ahLst/>
              <a:cxnLst/>
              <a:rect r="r" b="b" t="t" l="l"/>
              <a:pathLst>
                <a:path h="1958594" w="50800">
                  <a:moveTo>
                    <a:pt x="0" y="1958594"/>
                  </a:moveTo>
                  <a:lnTo>
                    <a:pt x="508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4896647" t="0" r="-4896647" b="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248136" y="6663423"/>
            <a:ext cx="38100" cy="855631"/>
            <a:chOff x="0" y="0"/>
            <a:chExt cx="50800" cy="11408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1140841"/>
            </a:xfrm>
            <a:custGeom>
              <a:avLst/>
              <a:gdLst/>
              <a:ahLst/>
              <a:cxnLst/>
              <a:rect r="r" b="b" t="t" l="l"/>
              <a:pathLst>
                <a:path h="1140841" w="50800">
                  <a:moveTo>
                    <a:pt x="50800" y="1140841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831377" t="0" r="-2831377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43206" y="6663423"/>
            <a:ext cx="38100" cy="855631"/>
            <a:chOff x="0" y="0"/>
            <a:chExt cx="50800" cy="11408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1140841"/>
            </a:xfrm>
            <a:custGeom>
              <a:avLst/>
              <a:gdLst/>
              <a:ahLst/>
              <a:cxnLst/>
              <a:rect r="r" b="b" t="t" l="l"/>
              <a:pathLst>
                <a:path h="1140841" w="50800">
                  <a:moveTo>
                    <a:pt x="0" y="1140841"/>
                  </a:moveTo>
                  <a:lnTo>
                    <a:pt x="508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831377" t="0" r="-2831377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382698" y="3403735"/>
            <a:ext cx="3506772" cy="3479530"/>
            <a:chOff x="0" y="0"/>
            <a:chExt cx="4675696" cy="46393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75632" cy="4639310"/>
            </a:xfrm>
            <a:custGeom>
              <a:avLst/>
              <a:gdLst/>
              <a:ahLst/>
              <a:cxnLst/>
              <a:rect r="r" b="b" t="t" l="l"/>
              <a:pathLst>
                <a:path h="4639310" w="4675632">
                  <a:moveTo>
                    <a:pt x="0" y="0"/>
                  </a:moveTo>
                  <a:lnTo>
                    <a:pt x="4675632" y="0"/>
                  </a:lnTo>
                  <a:lnTo>
                    <a:pt x="4675632" y="4639310"/>
                  </a:lnTo>
                  <a:lnTo>
                    <a:pt x="0" y="4639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1" r="-1" b="-39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911841" y="1458716"/>
            <a:ext cx="14464308" cy="111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5"/>
              </a:lnSpc>
            </a:pPr>
            <a:r>
              <a:rPr lang="en-US" sz="9669" b="tru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DEL PROYECTO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04166" y="3107093"/>
            <a:ext cx="3800095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945" spc="-182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LOGICA Y BACKEND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1722" y="3107093"/>
            <a:ext cx="4362145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945" spc="-182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OBJETIVO GENERAL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31697" y="7302389"/>
            <a:ext cx="4867829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945" spc="-182">
                <a:solidFill>
                  <a:srgbClr val="1C9EB0"/>
                </a:solidFill>
                <a:latin typeface="Inter Bold"/>
                <a:ea typeface="Inter Bold"/>
                <a:cs typeface="Inter Bold"/>
                <a:sym typeface="Inter Bold"/>
              </a:rPr>
              <a:t>COMUNICACION E INTERFAZ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04166" y="3749335"/>
            <a:ext cx="4855134" cy="221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781" indent="-175260" lvl="2">
              <a:lnSpc>
                <a:spcPts val="2530"/>
              </a:lnSpc>
              <a:buFont typeface="Arial"/>
              <a:buChar char="⚬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Lógica de N</a:t>
            </a: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egocio: Cálculo automático y proyección de stock. </a:t>
            </a:r>
          </a:p>
          <a:p>
            <a:pPr algn="l" marL="525781" indent="-175260" lvl="2">
              <a:lnSpc>
                <a:spcPts val="2530"/>
              </a:lnSpc>
              <a:buFont typeface="Arial"/>
              <a:buChar char="⚬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Integración Nube: Sincronización en tiempo real (Cloud Firestore). </a:t>
            </a:r>
          </a:p>
          <a:p>
            <a:pPr algn="l" marL="525781" indent="-175260" lvl="2">
              <a:lnSpc>
                <a:spcPts val="2530"/>
              </a:lnSpc>
              <a:buFont typeface="Arial"/>
              <a:buChar char="⚬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Seguridad: Autenticación por roles (Firebase Auth)</a:t>
            </a:r>
          </a:p>
          <a:p>
            <a:pPr algn="l" marL="525781" indent="-175260" lvl="2">
              <a:lnSpc>
                <a:spcPts val="253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483186" y="3830231"/>
            <a:ext cx="5622228" cy="221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Validación</a:t>
            </a: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Integral: Funcionalidad, estabilidad y seguridad. </a:t>
            </a:r>
          </a:p>
          <a:p>
            <a:pPr algn="ctr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Entorno de Pruebas: Dispositivos Android. </a:t>
            </a:r>
          </a:p>
          <a:p>
            <a:pPr algn="ctr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Meta: Cumplir estándares de calidad para Cuidadores y Pacientes.</a:t>
            </a:r>
          </a:p>
          <a:p>
            <a:pPr algn="ctr">
              <a:lnSpc>
                <a:spcPts val="253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741670" y="7965596"/>
            <a:ext cx="6788828" cy="221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781" indent="-175260" lvl="2">
              <a:lnSpc>
                <a:spcPts val="2530"/>
              </a:lnSpc>
              <a:buFont typeface="Arial"/>
              <a:buChar char="⚬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otificaciones Push: Alertas preventivas y de emergencia (FCM). </a:t>
            </a:r>
          </a:p>
          <a:p>
            <a:pPr algn="l" marL="525781" indent="-175260" lvl="2">
              <a:lnSpc>
                <a:spcPts val="2530"/>
              </a:lnSpc>
              <a:buFont typeface="Arial"/>
              <a:buChar char="⚬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Herramientas Clave: Escaneo QR y Comparador de ofertas. </a:t>
            </a:r>
          </a:p>
          <a:p>
            <a:pPr algn="l" marL="525781" indent="-175260" lvl="2">
              <a:lnSpc>
                <a:spcPts val="2530"/>
              </a:lnSpc>
              <a:buFont typeface="Arial"/>
              <a:buChar char="⚬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Experiencia de Usuario (UX): Navegación fluida y accesibilidad adaptada al usuario.</a:t>
            </a:r>
          </a:p>
          <a:p>
            <a:pPr algn="l" marL="525781" indent="-175260" lvl="2">
              <a:lnSpc>
                <a:spcPts val="2530"/>
              </a:lnSpc>
              <a:buFont typeface="Arial"/>
              <a:buChar char="⚬"/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56048" y="-1124215"/>
            <a:ext cx="38100" cy="9296400"/>
            <a:chOff x="0" y="0"/>
            <a:chExt cx="50800" cy="1239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0" cy="12395200"/>
            </a:xfrm>
            <a:custGeom>
              <a:avLst/>
              <a:gdLst/>
              <a:ahLst/>
              <a:cxnLst/>
              <a:rect r="r" b="b" t="t" l="l"/>
              <a:pathLst>
                <a:path h="12395200" w="50800">
                  <a:moveTo>
                    <a:pt x="0" y="0"/>
                  </a:moveTo>
                  <a:lnTo>
                    <a:pt x="50800" y="123952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31256071" t="0" r="-31256071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620045" y="1231350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6" y="0"/>
                </a:lnTo>
                <a:lnTo>
                  <a:pt x="1910106" y="1910106"/>
                </a:lnTo>
                <a:lnTo>
                  <a:pt x="0" y="1910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20045" y="4169803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6" y="0"/>
                </a:lnTo>
                <a:lnTo>
                  <a:pt x="1910106" y="1910106"/>
                </a:lnTo>
                <a:lnTo>
                  <a:pt x="0" y="1910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00995" y="7142512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6" y="0"/>
                </a:lnTo>
                <a:lnTo>
                  <a:pt x="1910106" y="1910106"/>
                </a:lnTo>
                <a:lnTo>
                  <a:pt x="0" y="1910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3894" y="6588398"/>
            <a:ext cx="3193161" cy="2853881"/>
          </a:xfrm>
          <a:custGeom>
            <a:avLst/>
            <a:gdLst/>
            <a:ahLst/>
            <a:cxnLst/>
            <a:rect r="r" b="b" t="t" l="l"/>
            <a:pathLst>
              <a:path h="2853881" w="3193161">
                <a:moveTo>
                  <a:pt x="0" y="0"/>
                </a:moveTo>
                <a:lnTo>
                  <a:pt x="3193161" y="0"/>
                </a:lnTo>
                <a:lnTo>
                  <a:pt x="3193161" y="2853881"/>
                </a:lnTo>
                <a:lnTo>
                  <a:pt x="0" y="28538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0" t="0" r="-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33081" y="4626241"/>
            <a:ext cx="995791" cy="998287"/>
          </a:xfrm>
          <a:custGeom>
            <a:avLst/>
            <a:gdLst/>
            <a:ahLst/>
            <a:cxnLst/>
            <a:rect r="r" b="b" t="t" l="l"/>
            <a:pathLst>
              <a:path h="998287" w="995791">
                <a:moveTo>
                  <a:pt x="0" y="0"/>
                </a:moveTo>
                <a:lnTo>
                  <a:pt x="995791" y="0"/>
                </a:lnTo>
                <a:lnTo>
                  <a:pt x="995791" y="998287"/>
                </a:lnTo>
                <a:lnTo>
                  <a:pt x="0" y="9982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25" t="0" r="-12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06763" y="2779082"/>
            <a:ext cx="2885329" cy="2993857"/>
          </a:xfrm>
          <a:custGeom>
            <a:avLst/>
            <a:gdLst/>
            <a:ahLst/>
            <a:cxnLst/>
            <a:rect r="r" b="b" t="t" l="l"/>
            <a:pathLst>
              <a:path h="2993857" w="2885329">
                <a:moveTo>
                  <a:pt x="0" y="0"/>
                </a:moveTo>
                <a:lnTo>
                  <a:pt x="2885329" y="0"/>
                </a:lnTo>
                <a:lnTo>
                  <a:pt x="2885329" y="2993857"/>
                </a:lnTo>
                <a:lnTo>
                  <a:pt x="0" y="29938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2164" y="1676599"/>
            <a:ext cx="927767" cy="1035165"/>
          </a:xfrm>
          <a:custGeom>
            <a:avLst/>
            <a:gdLst/>
            <a:ahLst/>
            <a:cxnLst/>
            <a:rect r="r" b="b" t="t" l="l"/>
            <a:pathLst>
              <a:path h="1035165" w="927767">
                <a:moveTo>
                  <a:pt x="0" y="0"/>
                </a:moveTo>
                <a:lnTo>
                  <a:pt x="927767" y="0"/>
                </a:lnTo>
                <a:lnTo>
                  <a:pt x="927767" y="1035165"/>
                </a:lnTo>
                <a:lnTo>
                  <a:pt x="0" y="103516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73121" y="7670208"/>
            <a:ext cx="1003954" cy="1003954"/>
          </a:xfrm>
          <a:custGeom>
            <a:avLst/>
            <a:gdLst/>
            <a:ahLst/>
            <a:cxnLst/>
            <a:rect r="r" b="b" t="t" l="l"/>
            <a:pathLst>
              <a:path h="1003954" w="1003954">
                <a:moveTo>
                  <a:pt x="0" y="0"/>
                </a:moveTo>
                <a:lnTo>
                  <a:pt x="1003954" y="0"/>
                </a:lnTo>
                <a:lnTo>
                  <a:pt x="1003954" y="1003954"/>
                </a:lnTo>
                <a:lnTo>
                  <a:pt x="0" y="100395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30276" y="1873996"/>
            <a:ext cx="6130185" cy="126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Usuarios y Pacientes.</a:t>
            </a:r>
          </a:p>
          <a:p>
            <a:pPr algn="l">
              <a:lnSpc>
                <a:spcPts val="2530"/>
              </a:lnSpc>
            </a:pP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Vinculación: Conexión mediante escaneo QR.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57922" y="4288907"/>
            <a:ext cx="5580179" cy="252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721" indent="-246860" lvl="1">
              <a:lnSpc>
                <a:spcPts val="2515"/>
              </a:lnSpc>
              <a:buFont typeface="Arial"/>
              <a:buChar char="•"/>
            </a:pPr>
            <a:r>
              <a:rPr lang="en-US" b="true" sz="2286" spc="-141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Dashboar</a:t>
            </a:r>
            <a:r>
              <a:rPr lang="en-US" b="true" sz="2286" spc="-141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d: Panel principal de información.</a:t>
            </a:r>
          </a:p>
          <a:p>
            <a:pPr algn="l">
              <a:lnSpc>
                <a:spcPts val="2515"/>
              </a:lnSpc>
            </a:pPr>
          </a:p>
          <a:p>
            <a:pPr algn="l" marL="493721" indent="-246860" lvl="1">
              <a:lnSpc>
                <a:spcPts val="2515"/>
              </a:lnSpc>
              <a:buFont typeface="Arial"/>
              <a:buChar char="•"/>
            </a:pPr>
            <a:r>
              <a:rPr lang="en-US" b="true" sz="2286" spc="-13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Inventario Médico: Gestión de stock y medicamentos.</a:t>
            </a:r>
          </a:p>
          <a:p>
            <a:pPr algn="l">
              <a:lnSpc>
                <a:spcPts val="2515"/>
              </a:lnSpc>
            </a:pPr>
          </a:p>
          <a:p>
            <a:pPr algn="l" marL="493721" indent="-246860" lvl="1">
              <a:lnSpc>
                <a:spcPts val="2515"/>
              </a:lnSpc>
              <a:buFont typeface="Arial"/>
              <a:buChar char="•"/>
            </a:pPr>
            <a:r>
              <a:rPr lang="en-US" b="true" sz="2286" spc="-13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Seguimiento: Adherencia al tratamiento del paciente.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57922" y="7953423"/>
            <a:ext cx="6772687" cy="158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748" indent="-249874" lvl="1">
              <a:lnSpc>
                <a:spcPts val="2546"/>
              </a:lnSpc>
              <a:buFont typeface="Arial"/>
              <a:buChar char="•"/>
            </a:pPr>
            <a:r>
              <a:rPr lang="en-US" b="true" sz="2314" spc="-141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Sist</a:t>
            </a:r>
            <a:r>
              <a:rPr lang="en-US" b="true" sz="2314" spc="-141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ema de Alertas: Avisos preventivos y críticos.</a:t>
            </a:r>
          </a:p>
          <a:p>
            <a:pPr algn="l">
              <a:lnSpc>
                <a:spcPts val="2546"/>
              </a:lnSpc>
            </a:pPr>
          </a:p>
          <a:p>
            <a:pPr algn="l" marL="499748" indent="-249874" lvl="1">
              <a:lnSpc>
                <a:spcPts val="2546"/>
              </a:lnSpc>
              <a:buFont typeface="Arial"/>
              <a:buChar char="•"/>
            </a:pPr>
            <a:r>
              <a:rPr lang="en-US" b="true" sz="2314" spc="-141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Comparador de precios en farmacias.</a:t>
            </a:r>
          </a:p>
          <a:p>
            <a:pPr algn="l">
              <a:lnSpc>
                <a:spcPts val="2546"/>
              </a:lnSpc>
            </a:pPr>
          </a:p>
          <a:p>
            <a:pPr algn="l">
              <a:lnSpc>
                <a:spcPts val="254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72192" y="1266168"/>
            <a:ext cx="6149826" cy="93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4"/>
              </a:lnSpc>
            </a:pPr>
            <a:r>
              <a:rPr lang="en-US" sz="8169" b="tru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ALCANCE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92151" y="1095255"/>
            <a:ext cx="3411885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b="true" sz="2645" spc="-164">
                <a:solidFill>
                  <a:srgbClr val="86B64A"/>
                </a:solidFill>
                <a:latin typeface="Inter Bold"/>
                <a:ea typeface="Inter Bold"/>
                <a:cs typeface="Inter Bold"/>
                <a:sym typeface="Inter Bold"/>
              </a:rPr>
              <a:t>USUARIOS Y ACCESOS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92151" y="3778558"/>
            <a:ext cx="5414562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b="true" sz="2645" spc="-164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CONTROL CLINICO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92151" y="7161562"/>
            <a:ext cx="5369123" cy="37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b="true" sz="2645" spc="-164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HERRAMIENTAS Y NOTIFICACIONES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2024" y="3408312"/>
            <a:ext cx="5011664" cy="2505837"/>
          </a:xfrm>
          <a:custGeom>
            <a:avLst/>
            <a:gdLst/>
            <a:ahLst/>
            <a:cxnLst/>
            <a:rect r="r" b="b" t="t" l="l"/>
            <a:pathLst>
              <a:path h="2505837" w="5011664">
                <a:moveTo>
                  <a:pt x="0" y="0"/>
                </a:moveTo>
                <a:lnTo>
                  <a:pt x="5011665" y="0"/>
                </a:lnTo>
                <a:lnTo>
                  <a:pt x="5011665" y="2505837"/>
                </a:lnTo>
                <a:lnTo>
                  <a:pt x="0" y="2505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64311" y="3408312"/>
            <a:ext cx="5011664" cy="2505837"/>
          </a:xfrm>
          <a:custGeom>
            <a:avLst/>
            <a:gdLst/>
            <a:ahLst/>
            <a:cxnLst/>
            <a:rect r="r" b="b" t="t" l="l"/>
            <a:pathLst>
              <a:path h="2505837" w="5011664">
                <a:moveTo>
                  <a:pt x="0" y="0"/>
                </a:moveTo>
                <a:lnTo>
                  <a:pt x="5011665" y="0"/>
                </a:lnTo>
                <a:lnTo>
                  <a:pt x="5011665" y="2505837"/>
                </a:lnTo>
                <a:lnTo>
                  <a:pt x="0" y="25058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33620" y="5909948"/>
            <a:ext cx="5011664" cy="2505837"/>
          </a:xfrm>
          <a:custGeom>
            <a:avLst/>
            <a:gdLst/>
            <a:ahLst/>
            <a:cxnLst/>
            <a:rect r="r" b="b" t="t" l="l"/>
            <a:pathLst>
              <a:path h="2505837" w="5011664">
                <a:moveTo>
                  <a:pt x="0" y="0"/>
                </a:moveTo>
                <a:lnTo>
                  <a:pt x="5011664" y="0"/>
                </a:lnTo>
                <a:lnTo>
                  <a:pt x="5011664" y="2505837"/>
                </a:lnTo>
                <a:lnTo>
                  <a:pt x="0" y="2505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74606" y="5305130"/>
            <a:ext cx="1486510" cy="1486510"/>
          </a:xfrm>
          <a:custGeom>
            <a:avLst/>
            <a:gdLst/>
            <a:ahLst/>
            <a:cxnLst/>
            <a:rect r="r" b="b" t="t" l="l"/>
            <a:pathLst>
              <a:path h="1486510" w="1486510">
                <a:moveTo>
                  <a:pt x="0" y="0"/>
                </a:moveTo>
                <a:lnTo>
                  <a:pt x="1486510" y="0"/>
                </a:lnTo>
                <a:lnTo>
                  <a:pt x="1486510" y="1486509"/>
                </a:lnTo>
                <a:lnTo>
                  <a:pt x="0" y="14865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26894" y="5305130"/>
            <a:ext cx="1486510" cy="1486510"/>
          </a:xfrm>
          <a:custGeom>
            <a:avLst/>
            <a:gdLst/>
            <a:ahLst/>
            <a:cxnLst/>
            <a:rect r="r" b="b" t="t" l="l"/>
            <a:pathLst>
              <a:path h="1486510" w="1486510">
                <a:moveTo>
                  <a:pt x="0" y="0"/>
                </a:moveTo>
                <a:lnTo>
                  <a:pt x="1486509" y="0"/>
                </a:lnTo>
                <a:lnTo>
                  <a:pt x="1486509" y="1486509"/>
                </a:lnTo>
                <a:lnTo>
                  <a:pt x="0" y="1486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96202" y="5264468"/>
            <a:ext cx="1486510" cy="1486510"/>
          </a:xfrm>
          <a:custGeom>
            <a:avLst/>
            <a:gdLst/>
            <a:ahLst/>
            <a:cxnLst/>
            <a:rect r="r" b="b" t="t" l="l"/>
            <a:pathLst>
              <a:path h="1486510" w="1486510">
                <a:moveTo>
                  <a:pt x="0" y="0"/>
                </a:moveTo>
                <a:lnTo>
                  <a:pt x="1486509" y="0"/>
                </a:lnTo>
                <a:lnTo>
                  <a:pt x="1486509" y="1486509"/>
                </a:lnTo>
                <a:lnTo>
                  <a:pt x="0" y="14865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65633" y="8729377"/>
            <a:ext cx="412633" cy="409232"/>
          </a:xfrm>
          <a:custGeom>
            <a:avLst/>
            <a:gdLst/>
            <a:ahLst/>
            <a:cxnLst/>
            <a:rect r="r" b="b" t="t" l="l"/>
            <a:pathLst>
              <a:path h="409232" w="412633">
                <a:moveTo>
                  <a:pt x="0" y="0"/>
                </a:moveTo>
                <a:lnTo>
                  <a:pt x="412632" y="0"/>
                </a:lnTo>
                <a:lnTo>
                  <a:pt x="412632" y="409232"/>
                </a:lnTo>
                <a:lnTo>
                  <a:pt x="0" y="4092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54073" y="2871221"/>
            <a:ext cx="412633" cy="409232"/>
          </a:xfrm>
          <a:custGeom>
            <a:avLst/>
            <a:gdLst/>
            <a:ahLst/>
            <a:cxnLst/>
            <a:rect r="r" b="b" t="t" l="l"/>
            <a:pathLst>
              <a:path h="409232" w="412633">
                <a:moveTo>
                  <a:pt x="0" y="0"/>
                </a:moveTo>
                <a:lnTo>
                  <a:pt x="412632" y="0"/>
                </a:lnTo>
                <a:lnTo>
                  <a:pt x="412632" y="409232"/>
                </a:lnTo>
                <a:lnTo>
                  <a:pt x="0" y="4092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078146" y="2797146"/>
            <a:ext cx="412633" cy="409232"/>
          </a:xfrm>
          <a:custGeom>
            <a:avLst/>
            <a:gdLst/>
            <a:ahLst/>
            <a:cxnLst/>
            <a:rect r="r" b="b" t="t" l="l"/>
            <a:pathLst>
              <a:path h="409232" w="412633">
                <a:moveTo>
                  <a:pt x="0" y="0"/>
                </a:moveTo>
                <a:lnTo>
                  <a:pt x="412633" y="0"/>
                </a:lnTo>
                <a:lnTo>
                  <a:pt x="412633" y="409233"/>
                </a:lnTo>
                <a:lnTo>
                  <a:pt x="0" y="40923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56213" y="5500583"/>
            <a:ext cx="923287" cy="1138590"/>
          </a:xfrm>
          <a:custGeom>
            <a:avLst/>
            <a:gdLst/>
            <a:ahLst/>
            <a:cxnLst/>
            <a:rect r="r" b="b" t="t" l="l"/>
            <a:pathLst>
              <a:path h="1138590" w="923287">
                <a:moveTo>
                  <a:pt x="0" y="0"/>
                </a:moveTo>
                <a:lnTo>
                  <a:pt x="923287" y="0"/>
                </a:lnTo>
                <a:lnTo>
                  <a:pt x="923287" y="1138590"/>
                </a:lnTo>
                <a:lnTo>
                  <a:pt x="0" y="113859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2923" t="0" r="-292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340881" y="5236807"/>
            <a:ext cx="1541831" cy="1541831"/>
          </a:xfrm>
          <a:custGeom>
            <a:avLst/>
            <a:gdLst/>
            <a:ahLst/>
            <a:cxnLst/>
            <a:rect r="r" b="b" t="t" l="l"/>
            <a:pathLst>
              <a:path h="1541831" w="1541831">
                <a:moveTo>
                  <a:pt x="0" y="0"/>
                </a:moveTo>
                <a:lnTo>
                  <a:pt x="1541830" y="0"/>
                </a:lnTo>
                <a:lnTo>
                  <a:pt x="1541830" y="1541831"/>
                </a:lnTo>
                <a:lnTo>
                  <a:pt x="0" y="154183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8427" y="5451472"/>
            <a:ext cx="1187701" cy="1187701"/>
          </a:xfrm>
          <a:custGeom>
            <a:avLst/>
            <a:gdLst/>
            <a:ahLst/>
            <a:cxnLst/>
            <a:rect r="r" b="b" t="t" l="l"/>
            <a:pathLst>
              <a:path h="1187701" w="1187701">
                <a:moveTo>
                  <a:pt x="0" y="0"/>
                </a:moveTo>
                <a:lnTo>
                  <a:pt x="1187701" y="0"/>
                </a:lnTo>
                <a:lnTo>
                  <a:pt x="1187701" y="1187701"/>
                </a:lnTo>
                <a:lnTo>
                  <a:pt x="0" y="118770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532877" y="590550"/>
            <a:ext cx="15213149" cy="89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8"/>
              </a:lnSpc>
            </a:pPr>
            <a:r>
              <a:rPr lang="en-US" sz="7861" b="tru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AMBIENTE DE PRUEBAS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69518" y="8749160"/>
            <a:ext cx="424772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3000" spc="-186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APLICACIÓN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57205" y="2844448"/>
            <a:ext cx="4247721" cy="4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b="true" sz="3045" spc="-188">
                <a:solidFill>
                  <a:srgbClr val="86B64A"/>
                </a:solidFill>
                <a:latin typeface="Inter Bold"/>
                <a:ea typeface="Inter Bold"/>
                <a:cs typeface="Inter Bold"/>
                <a:sym typeface="Inter Bold"/>
              </a:rPr>
              <a:t>PLATAFORMA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2032" y="2901750"/>
            <a:ext cx="2780109" cy="84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b="true" sz="3045" spc="-185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BASE DE DATOS</a:t>
            </a:r>
          </a:p>
          <a:p>
            <a:pPr algn="l">
              <a:lnSpc>
                <a:spcPts val="334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604556" y="7455757"/>
            <a:ext cx="4247721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b="true" sz="2699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G-PIM</a:t>
            </a:r>
          </a:p>
          <a:p>
            <a:pPr algn="l">
              <a:lnSpc>
                <a:spcPts val="296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4836647" y="4049105"/>
            <a:ext cx="4247721" cy="37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b="true" sz="2698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698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ndroid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95439" y="3989625"/>
            <a:ext cx="4247721" cy="74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b="true" sz="2698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</a:t>
            </a:r>
            <a:r>
              <a:rPr lang="en-US" b="true" sz="2698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rebase Firestore</a:t>
            </a:r>
          </a:p>
          <a:p>
            <a:pPr algn="l">
              <a:lnSpc>
                <a:spcPts val="296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2024" y="3408312"/>
            <a:ext cx="5011664" cy="2505837"/>
          </a:xfrm>
          <a:custGeom>
            <a:avLst/>
            <a:gdLst/>
            <a:ahLst/>
            <a:cxnLst/>
            <a:rect r="r" b="b" t="t" l="l"/>
            <a:pathLst>
              <a:path h="2505837" w="5011664">
                <a:moveTo>
                  <a:pt x="0" y="0"/>
                </a:moveTo>
                <a:lnTo>
                  <a:pt x="5011665" y="0"/>
                </a:lnTo>
                <a:lnTo>
                  <a:pt x="5011665" y="2505837"/>
                </a:lnTo>
                <a:lnTo>
                  <a:pt x="0" y="2505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64311" y="3408312"/>
            <a:ext cx="5011664" cy="2505837"/>
          </a:xfrm>
          <a:custGeom>
            <a:avLst/>
            <a:gdLst/>
            <a:ahLst/>
            <a:cxnLst/>
            <a:rect r="r" b="b" t="t" l="l"/>
            <a:pathLst>
              <a:path h="2505837" w="5011664">
                <a:moveTo>
                  <a:pt x="0" y="0"/>
                </a:moveTo>
                <a:lnTo>
                  <a:pt x="5011665" y="0"/>
                </a:lnTo>
                <a:lnTo>
                  <a:pt x="5011665" y="2505837"/>
                </a:lnTo>
                <a:lnTo>
                  <a:pt x="0" y="25058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33620" y="5909948"/>
            <a:ext cx="5011664" cy="2505837"/>
          </a:xfrm>
          <a:custGeom>
            <a:avLst/>
            <a:gdLst/>
            <a:ahLst/>
            <a:cxnLst/>
            <a:rect r="r" b="b" t="t" l="l"/>
            <a:pathLst>
              <a:path h="2505837" w="5011664">
                <a:moveTo>
                  <a:pt x="0" y="0"/>
                </a:moveTo>
                <a:lnTo>
                  <a:pt x="5011664" y="0"/>
                </a:lnTo>
                <a:lnTo>
                  <a:pt x="5011664" y="2505837"/>
                </a:lnTo>
                <a:lnTo>
                  <a:pt x="0" y="2505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74606" y="5305130"/>
            <a:ext cx="1486510" cy="1486510"/>
          </a:xfrm>
          <a:custGeom>
            <a:avLst/>
            <a:gdLst/>
            <a:ahLst/>
            <a:cxnLst/>
            <a:rect r="r" b="b" t="t" l="l"/>
            <a:pathLst>
              <a:path h="1486510" w="1486510">
                <a:moveTo>
                  <a:pt x="0" y="0"/>
                </a:moveTo>
                <a:lnTo>
                  <a:pt x="1486510" y="0"/>
                </a:lnTo>
                <a:lnTo>
                  <a:pt x="1486510" y="1486509"/>
                </a:lnTo>
                <a:lnTo>
                  <a:pt x="0" y="14865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26894" y="5305130"/>
            <a:ext cx="1486510" cy="1486510"/>
          </a:xfrm>
          <a:custGeom>
            <a:avLst/>
            <a:gdLst/>
            <a:ahLst/>
            <a:cxnLst/>
            <a:rect r="r" b="b" t="t" l="l"/>
            <a:pathLst>
              <a:path h="1486510" w="1486510">
                <a:moveTo>
                  <a:pt x="0" y="0"/>
                </a:moveTo>
                <a:lnTo>
                  <a:pt x="1486509" y="0"/>
                </a:lnTo>
                <a:lnTo>
                  <a:pt x="1486509" y="1486509"/>
                </a:lnTo>
                <a:lnTo>
                  <a:pt x="0" y="1486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96202" y="5264468"/>
            <a:ext cx="1486510" cy="1486510"/>
          </a:xfrm>
          <a:custGeom>
            <a:avLst/>
            <a:gdLst/>
            <a:ahLst/>
            <a:cxnLst/>
            <a:rect r="r" b="b" t="t" l="l"/>
            <a:pathLst>
              <a:path h="1486510" w="1486510">
                <a:moveTo>
                  <a:pt x="0" y="0"/>
                </a:moveTo>
                <a:lnTo>
                  <a:pt x="1486509" y="0"/>
                </a:lnTo>
                <a:lnTo>
                  <a:pt x="1486509" y="1486509"/>
                </a:lnTo>
                <a:lnTo>
                  <a:pt x="0" y="148650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45292" y="8615077"/>
            <a:ext cx="412633" cy="409232"/>
          </a:xfrm>
          <a:custGeom>
            <a:avLst/>
            <a:gdLst/>
            <a:ahLst/>
            <a:cxnLst/>
            <a:rect r="r" b="b" t="t" l="l"/>
            <a:pathLst>
              <a:path h="409232" w="412633">
                <a:moveTo>
                  <a:pt x="0" y="0"/>
                </a:moveTo>
                <a:lnTo>
                  <a:pt x="412633" y="0"/>
                </a:lnTo>
                <a:lnTo>
                  <a:pt x="412633" y="409232"/>
                </a:lnTo>
                <a:lnTo>
                  <a:pt x="0" y="4092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72082" y="2789365"/>
            <a:ext cx="412633" cy="409232"/>
          </a:xfrm>
          <a:custGeom>
            <a:avLst/>
            <a:gdLst/>
            <a:ahLst/>
            <a:cxnLst/>
            <a:rect r="r" b="b" t="t" l="l"/>
            <a:pathLst>
              <a:path h="409232" w="412633">
                <a:moveTo>
                  <a:pt x="0" y="0"/>
                </a:moveTo>
                <a:lnTo>
                  <a:pt x="412633" y="0"/>
                </a:lnTo>
                <a:lnTo>
                  <a:pt x="412633" y="409232"/>
                </a:lnTo>
                <a:lnTo>
                  <a:pt x="0" y="4092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911194" y="2809072"/>
            <a:ext cx="412633" cy="409232"/>
          </a:xfrm>
          <a:custGeom>
            <a:avLst/>
            <a:gdLst/>
            <a:ahLst/>
            <a:cxnLst/>
            <a:rect r="r" b="b" t="t" l="l"/>
            <a:pathLst>
              <a:path h="409232" w="412633">
                <a:moveTo>
                  <a:pt x="0" y="0"/>
                </a:moveTo>
                <a:lnTo>
                  <a:pt x="412633" y="0"/>
                </a:lnTo>
                <a:lnTo>
                  <a:pt x="412633" y="409232"/>
                </a:lnTo>
                <a:lnTo>
                  <a:pt x="0" y="4092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97191" y="5444715"/>
            <a:ext cx="1041330" cy="1207340"/>
          </a:xfrm>
          <a:custGeom>
            <a:avLst/>
            <a:gdLst/>
            <a:ahLst/>
            <a:cxnLst/>
            <a:rect r="r" b="b" t="t" l="l"/>
            <a:pathLst>
              <a:path h="1207340" w="1041330">
                <a:moveTo>
                  <a:pt x="0" y="0"/>
                </a:moveTo>
                <a:lnTo>
                  <a:pt x="1041330" y="0"/>
                </a:lnTo>
                <a:lnTo>
                  <a:pt x="1041330" y="1207339"/>
                </a:lnTo>
                <a:lnTo>
                  <a:pt x="0" y="120733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06418" y="5545274"/>
            <a:ext cx="1275164" cy="1006221"/>
          </a:xfrm>
          <a:custGeom>
            <a:avLst/>
            <a:gdLst/>
            <a:ahLst/>
            <a:cxnLst/>
            <a:rect r="r" b="b" t="t" l="l"/>
            <a:pathLst>
              <a:path h="1006221" w="1275164">
                <a:moveTo>
                  <a:pt x="0" y="0"/>
                </a:moveTo>
                <a:lnTo>
                  <a:pt x="1275164" y="0"/>
                </a:lnTo>
                <a:lnTo>
                  <a:pt x="1275164" y="1006221"/>
                </a:lnTo>
                <a:lnTo>
                  <a:pt x="0" y="100622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96899" y="5384970"/>
            <a:ext cx="1054008" cy="1245505"/>
          </a:xfrm>
          <a:custGeom>
            <a:avLst/>
            <a:gdLst/>
            <a:ahLst/>
            <a:cxnLst/>
            <a:rect r="r" b="b" t="t" l="l"/>
            <a:pathLst>
              <a:path h="1245505" w="1054008">
                <a:moveTo>
                  <a:pt x="0" y="0"/>
                </a:moveTo>
                <a:lnTo>
                  <a:pt x="1054008" y="0"/>
                </a:lnTo>
                <a:lnTo>
                  <a:pt x="1054008" y="1245505"/>
                </a:lnTo>
                <a:lnTo>
                  <a:pt x="0" y="124550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32877" y="590550"/>
            <a:ext cx="15213149" cy="89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8"/>
              </a:lnSpc>
            </a:pPr>
            <a:r>
              <a:rPr lang="en-US" sz="7861" b="tru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AMBIENTE DE PRUEBAS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49177" y="8634860"/>
            <a:ext cx="424772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3000" spc="-186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CONECTIVIDAD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75967" y="2837647"/>
            <a:ext cx="4247721" cy="4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b="true" sz="3044" spc="-187">
                <a:solidFill>
                  <a:srgbClr val="86B64A"/>
                </a:solidFill>
                <a:latin typeface="Inter Bold"/>
                <a:ea typeface="Inter Bold"/>
                <a:cs typeface="Inter Bold"/>
                <a:sym typeface="Inter Bold"/>
              </a:rPr>
              <a:t>AUTENTIC</a:t>
            </a:r>
            <a:r>
              <a:rPr lang="en-US" b="true" sz="3044" spc="-187">
                <a:solidFill>
                  <a:srgbClr val="86B64A"/>
                </a:solidFill>
                <a:latin typeface="Inter Bold"/>
                <a:ea typeface="Inter Bold"/>
                <a:cs typeface="Inter Bold"/>
                <a:sym typeface="Inter Bold"/>
              </a:rPr>
              <a:t>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45284" y="2808459"/>
            <a:ext cx="3055739" cy="84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b="true" sz="3045" spc="-185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TIPO DE PRUEBAS</a:t>
            </a:r>
          </a:p>
          <a:p>
            <a:pPr algn="l">
              <a:lnSpc>
                <a:spcPts val="334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220581" y="7141502"/>
            <a:ext cx="4247721" cy="32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b="true" sz="2300" spc="-14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300" spc="-14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nternet (WiFi y datos móviles)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75967" y="4142462"/>
            <a:ext cx="4247721" cy="7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2700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Fir</a:t>
            </a:r>
            <a:r>
              <a:rPr lang="en-US" b="true" sz="2700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ebase Authentication</a:t>
            </a:r>
          </a:p>
          <a:p>
            <a:pPr algn="l">
              <a:lnSpc>
                <a:spcPts val="297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119518" y="4120896"/>
            <a:ext cx="4247721" cy="74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b="true" sz="2698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Pruebas f</a:t>
            </a:r>
            <a:r>
              <a:rPr lang="en-US" b="true" sz="2698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uncional</a:t>
            </a:r>
            <a:r>
              <a:rPr lang="en-US" b="true" sz="2698" spc="-16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es manuales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9161" y="1771363"/>
            <a:ext cx="18326100" cy="38100"/>
            <a:chOff x="0" y="0"/>
            <a:chExt cx="2443480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34800" cy="50800"/>
            </a:xfrm>
            <a:custGeom>
              <a:avLst/>
              <a:gdLst/>
              <a:ahLst/>
              <a:cxnLst/>
              <a:rect r="r" b="b" t="t" l="l"/>
              <a:pathLst>
                <a:path h="50800" w="24434800">
                  <a:moveTo>
                    <a:pt x="0" y="0"/>
                  </a:moveTo>
                  <a:lnTo>
                    <a:pt x="244348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9322303" r="0" b="-932230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47912" y="3854968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6" y="0"/>
                </a:lnTo>
                <a:lnTo>
                  <a:pt x="1910106" y="1910105"/>
                </a:lnTo>
                <a:lnTo>
                  <a:pt x="0" y="191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67640" y="835361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5" y="0"/>
                </a:lnTo>
                <a:lnTo>
                  <a:pt x="1910105" y="1910105"/>
                </a:lnTo>
                <a:lnTo>
                  <a:pt x="0" y="191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98157" y="3854968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6" y="0"/>
                </a:lnTo>
                <a:lnTo>
                  <a:pt x="1910106" y="1910105"/>
                </a:lnTo>
                <a:lnTo>
                  <a:pt x="0" y="191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53646" y="4053697"/>
            <a:ext cx="1592361" cy="1486862"/>
          </a:xfrm>
          <a:custGeom>
            <a:avLst/>
            <a:gdLst/>
            <a:ahLst/>
            <a:cxnLst/>
            <a:rect r="r" b="b" t="t" l="l"/>
            <a:pathLst>
              <a:path h="1486862" w="1592361">
                <a:moveTo>
                  <a:pt x="0" y="0"/>
                </a:moveTo>
                <a:lnTo>
                  <a:pt x="1592361" y="0"/>
                </a:lnTo>
                <a:lnTo>
                  <a:pt x="1592361" y="1486862"/>
                </a:lnTo>
                <a:lnTo>
                  <a:pt x="0" y="14868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41" r="0" b="-4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98250" y="1274339"/>
            <a:ext cx="1448876" cy="1028700"/>
          </a:xfrm>
          <a:custGeom>
            <a:avLst/>
            <a:gdLst/>
            <a:ahLst/>
            <a:cxnLst/>
            <a:rect r="r" b="b" t="t" l="l"/>
            <a:pathLst>
              <a:path h="1028700" w="1448876">
                <a:moveTo>
                  <a:pt x="0" y="0"/>
                </a:moveTo>
                <a:lnTo>
                  <a:pt x="1448876" y="0"/>
                </a:lnTo>
                <a:lnTo>
                  <a:pt x="144887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70" r="0" b="-17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70077" y="4328425"/>
            <a:ext cx="1065776" cy="928557"/>
          </a:xfrm>
          <a:custGeom>
            <a:avLst/>
            <a:gdLst/>
            <a:ahLst/>
            <a:cxnLst/>
            <a:rect r="r" b="b" t="t" l="l"/>
            <a:pathLst>
              <a:path h="928557" w="1065776">
                <a:moveTo>
                  <a:pt x="0" y="0"/>
                </a:moveTo>
                <a:lnTo>
                  <a:pt x="1065776" y="0"/>
                </a:lnTo>
                <a:lnTo>
                  <a:pt x="1065776" y="928557"/>
                </a:lnTo>
                <a:lnTo>
                  <a:pt x="0" y="9285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67640" y="6678400"/>
            <a:ext cx="1910105" cy="1910105"/>
          </a:xfrm>
          <a:custGeom>
            <a:avLst/>
            <a:gdLst/>
            <a:ahLst/>
            <a:cxnLst/>
            <a:rect r="r" b="b" t="t" l="l"/>
            <a:pathLst>
              <a:path h="1910105" w="1910105">
                <a:moveTo>
                  <a:pt x="0" y="0"/>
                </a:moveTo>
                <a:lnTo>
                  <a:pt x="1910105" y="0"/>
                </a:lnTo>
                <a:lnTo>
                  <a:pt x="1910105" y="1910106"/>
                </a:lnTo>
                <a:lnTo>
                  <a:pt x="0" y="19101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45085" y="6844909"/>
            <a:ext cx="1355205" cy="1461137"/>
          </a:xfrm>
          <a:custGeom>
            <a:avLst/>
            <a:gdLst/>
            <a:ahLst/>
            <a:cxnLst/>
            <a:rect r="r" b="b" t="t" l="l"/>
            <a:pathLst>
              <a:path h="1461137" w="1355205">
                <a:moveTo>
                  <a:pt x="0" y="0"/>
                </a:moveTo>
                <a:lnTo>
                  <a:pt x="1355205" y="0"/>
                </a:lnTo>
                <a:lnTo>
                  <a:pt x="1355205" y="1461137"/>
                </a:lnTo>
                <a:lnTo>
                  <a:pt x="0" y="146113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6697450"/>
            <a:ext cx="4881537" cy="189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Meto</a:t>
            </a: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dología: Pruebas funcionales manuales. </a:t>
            </a:r>
          </a:p>
          <a:p>
            <a:pPr algn="ctr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Simulación Real: Interacción desde los perfiles de Cuidador y Adulto Mayor. </a:t>
            </a:r>
          </a:p>
          <a:p>
            <a:pPr algn="ctr">
              <a:lnSpc>
                <a:spcPts val="253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177582" y="3419590"/>
            <a:ext cx="5090222" cy="202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4426" indent="-227213" lvl="1">
              <a:lnSpc>
                <a:spcPts val="2315"/>
              </a:lnSpc>
              <a:buFont typeface="Arial"/>
              <a:buChar char="•"/>
            </a:pPr>
            <a:r>
              <a:rPr lang="en-US" b="true" sz="2104" spc="-128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104" spc="-128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ositivos (Flujo Ideal): Respuesta del sistema ante un uso correcto y datos válidos.</a:t>
            </a:r>
          </a:p>
          <a:p>
            <a:pPr algn="ctr" marL="454425" indent="-227213" lvl="1">
              <a:lnSpc>
                <a:spcPts val="2315"/>
              </a:lnSpc>
              <a:buFont typeface="Arial"/>
              <a:buChar char="•"/>
            </a:pPr>
            <a:r>
              <a:rPr lang="en-US" b="true" sz="2104" spc="-129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Negativos (Robustez): Reacción ante fallos intencionales, errores del usuario y cortes de conexión.</a:t>
            </a:r>
          </a:p>
          <a:p>
            <a:pPr algn="ctr">
              <a:lnSpc>
                <a:spcPts val="231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467545" y="7025808"/>
            <a:ext cx="4820455" cy="19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8911" indent="-219456" lvl="1">
              <a:lnSpc>
                <a:spcPts val="2236"/>
              </a:lnSpc>
              <a:buFont typeface="Arial"/>
              <a:buChar char="•"/>
            </a:pPr>
            <a:r>
              <a:rPr lang="en-US" b="true" sz="2032" spc="-124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Alcanc</a:t>
            </a:r>
            <a:r>
              <a:rPr lang="en-US" b="true" sz="2032" spc="-124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Total: Al menos un caso de prueba por cada requerimiento funcional. </a:t>
            </a:r>
          </a:p>
          <a:p>
            <a:pPr algn="ctr" marL="438911" indent="-219456" lvl="1">
              <a:lnSpc>
                <a:spcPts val="2236"/>
              </a:lnSpc>
              <a:buFont typeface="Arial"/>
              <a:buChar char="•"/>
            </a:pPr>
            <a:r>
              <a:rPr lang="en-US" b="true" sz="2032" spc="-124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Documentación Rigurosa: Precondiciones, pasos a seguir y resultado esperado definidos</a:t>
            </a:r>
          </a:p>
          <a:p>
            <a:pPr algn="ctr">
              <a:lnSpc>
                <a:spcPts val="223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16795" y="863579"/>
            <a:ext cx="5238115" cy="107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5"/>
              </a:lnSpc>
            </a:pPr>
            <a:r>
              <a:rPr lang="en-US" sz="4969" b="tru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ESTRATEGIA DE PRUEBAS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1824" y="6128756"/>
            <a:ext cx="4586606" cy="4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b="true" sz="2999" spc="-185">
                <a:solidFill>
                  <a:srgbClr val="86B64A"/>
                </a:solidFill>
                <a:latin typeface="Inter Bold"/>
                <a:ea typeface="Inter Bold"/>
                <a:cs typeface="Inter Bold"/>
                <a:sym typeface="Inter Bold"/>
              </a:rPr>
              <a:t>ENFOQUE DE VALIDACION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19490" y="6128756"/>
            <a:ext cx="5067449" cy="4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b="true" sz="2999" spc="-185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COBERTURA Y TRAZABILIDAD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6943" y="2887278"/>
            <a:ext cx="4590430" cy="4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b="true" sz="2999" spc="-185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ESCENARIOS EVALUADOS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46943" y="8786041"/>
            <a:ext cx="4590430" cy="4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b="true" sz="2999" spc="-185">
                <a:solidFill>
                  <a:srgbClr val="129CD8"/>
                </a:solidFill>
                <a:latin typeface="Inter Bold"/>
                <a:ea typeface="Inter Bold"/>
                <a:cs typeface="Inter Bold"/>
                <a:sym typeface="Inter Bold"/>
              </a:rPr>
              <a:t>INTEGRIDAD DEL SISTEMA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13662" y="9267825"/>
            <a:ext cx="4820455" cy="84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8911" indent="-219455" lvl="1">
              <a:lnSpc>
                <a:spcPts val="2236"/>
              </a:lnSpc>
              <a:buFont typeface="Arial"/>
              <a:buChar char="•"/>
            </a:pPr>
            <a:r>
              <a:rPr lang="en-US" b="true" sz="2032" spc="-12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Validación</a:t>
            </a:r>
            <a:r>
              <a:rPr lang="en-US" b="true" sz="2032" spc="-125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en Paralelo: Sincronización correcta y segura con la nube (Firebase).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2702" y="2326033"/>
            <a:ext cx="17102595" cy="6734147"/>
          </a:xfrm>
          <a:custGeom>
            <a:avLst/>
            <a:gdLst/>
            <a:ahLst/>
            <a:cxnLst/>
            <a:rect r="r" b="b" t="t" l="l"/>
            <a:pathLst>
              <a:path h="6734147" w="17102595">
                <a:moveTo>
                  <a:pt x="0" y="0"/>
                </a:moveTo>
                <a:lnTo>
                  <a:pt x="17102596" y="0"/>
                </a:lnTo>
                <a:lnTo>
                  <a:pt x="17102596" y="6734146"/>
                </a:lnTo>
                <a:lnTo>
                  <a:pt x="0" y="67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49479" y="654507"/>
            <a:ext cx="11589042" cy="111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5"/>
              </a:lnSpc>
            </a:pPr>
            <a:r>
              <a:rPr lang="en-US" sz="9669" b="tru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CASOS DE PRUEBAS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3314" y="1795939"/>
            <a:ext cx="17554079" cy="7241058"/>
          </a:xfrm>
          <a:custGeom>
            <a:avLst/>
            <a:gdLst/>
            <a:ahLst/>
            <a:cxnLst/>
            <a:rect r="r" b="b" t="t" l="l"/>
            <a:pathLst>
              <a:path h="7241058" w="17554079">
                <a:moveTo>
                  <a:pt x="0" y="0"/>
                </a:moveTo>
                <a:lnTo>
                  <a:pt x="17554079" y="0"/>
                </a:lnTo>
                <a:lnTo>
                  <a:pt x="17554079" y="7241057"/>
                </a:lnTo>
                <a:lnTo>
                  <a:pt x="0" y="7241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37002" y="3516592"/>
            <a:ext cx="11715560" cy="5021370"/>
            <a:chOff x="0" y="0"/>
            <a:chExt cx="15620746" cy="66951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20746" cy="6695186"/>
            </a:xfrm>
            <a:custGeom>
              <a:avLst/>
              <a:gdLst/>
              <a:ahLst/>
              <a:cxnLst/>
              <a:rect r="r" b="b" t="t" l="l"/>
              <a:pathLst>
                <a:path h="6695186" w="15620746">
                  <a:moveTo>
                    <a:pt x="0" y="0"/>
                  </a:moveTo>
                  <a:lnTo>
                    <a:pt x="15620746" y="0"/>
                  </a:lnTo>
                  <a:lnTo>
                    <a:pt x="15620746" y="6695186"/>
                  </a:lnTo>
                  <a:lnTo>
                    <a:pt x="0" y="6695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6656" r="0" b="-6665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545607" y="2032159"/>
            <a:ext cx="6898357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7200" b="tru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DAHMry-Hwcg</dc:identifier>
  <dcterms:modified xsi:type="dcterms:W3CDTF">2011-08-01T06:04:30Z</dcterms:modified>
  <cp:revision>1</cp:revision>
  <dc:title>PRESENTACIÓN G-PIM.pptx</dc:title>
</cp:coreProperties>
</file>